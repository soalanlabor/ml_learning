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797598-390C-43B5-B00C-982811FF4AE9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7DDB9-82A4-497D-AF59-7E702F4E03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835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7DDB9-82A4-497D-AF59-7E702F4E031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628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D0C5B9-21E2-D90C-80B1-400D96DA4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FD60D2-35E2-3DDE-67FD-B6FCBF516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2D073-790A-550D-17E0-365F3C8D8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9FA9-BA64-48F5-9257-BA7D5AB003B1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978BDC-82C0-460B-E8AB-A56D32FF2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F50C0B-1280-1B08-8871-BC7F09E12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8A44E-9925-4BBF-ADCC-550A119FD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487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EB8CD-A6EA-E119-7605-9C8A85D3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62C607-9312-DD51-C9C7-BB1FCC023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926D1C-CFC5-3207-0489-101466665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9FA9-BA64-48F5-9257-BA7D5AB003B1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DA8498-1609-A2A9-31D2-25E64FCD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C9C7B2-EA0C-D1DA-C098-A28D1F1A7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8A44E-9925-4BBF-ADCC-550A119FD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135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F5076F-954A-B0C7-C043-20FAE1FF9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1798F9-C9D8-C208-EAD2-725DB39BB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9A4B79-440A-1C96-9189-68A3D885E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9FA9-BA64-48F5-9257-BA7D5AB003B1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101366-AAF4-A081-466B-51071E42F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838E18-BBED-2095-6E43-752132FDF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8A44E-9925-4BBF-ADCC-550A119FD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67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4E5258-EB21-9A3B-A39D-A22562771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425912-CB72-3DE3-FDA3-0F89FC4C3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31EF17-F702-BBDE-463D-03CFE6385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8EF63D-3E47-53BA-CE55-3F509EF5B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9FA9-BA64-48F5-9257-BA7D5AB003B1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F8EF20-8B7F-09B9-0A3A-8F7FEB94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C75157-AB86-534A-3140-FAE85AB3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8A44E-9925-4BBF-ADCC-550A119FD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959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372D02-F1DB-6A6E-F939-9AB665177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23AAD1-48A3-F1A3-EFD6-557CD0D73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AABBAB-7B30-4AE5-9A61-A6DAA8FEC9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AE95AEA-B059-18EA-56A4-A3298A2BA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E172161-480C-B4D6-13E3-8F33E65D34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A2AD516-85C2-47C4-4776-0452BB695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9FA9-BA64-48F5-9257-BA7D5AB003B1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2CCAC1-55E9-6D6F-007B-D7D6B5181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1A5A082-63DE-FFFB-E851-DE516133C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8A44E-9925-4BBF-ADCC-550A119FD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369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C6165B-D636-9626-23D2-02A41F577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409DD2-D1DB-560F-1AF3-9FFFA5124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9FA9-BA64-48F5-9257-BA7D5AB003B1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D934D7-0097-A2BF-03D2-C1BC2AE24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630BD4-F7C2-7913-CB1A-B1FC5E38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8A44E-9925-4BBF-ADCC-550A119FD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371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660499B-28C6-4DCB-FFED-9780D087E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9FA9-BA64-48F5-9257-BA7D5AB003B1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1EBE96-C02A-19CF-18E3-793EE0A4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BB274C-55C2-4E74-1ECB-1D829436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8A44E-9925-4BBF-ADCC-550A119FD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69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E722DA-30FD-8A8B-C899-D840C91CB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AC0829-C630-4FAC-974A-05A450E4A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3E332F-6982-597C-E80C-A7C31C8A3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4717C1-8C99-FCE5-CF71-4D665C073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9FA9-BA64-48F5-9257-BA7D5AB003B1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B4E112-730E-D65B-71C1-4C58E8929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15A038-39CE-AFC6-23BC-3D4CCE15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8A44E-9925-4BBF-ADCC-550A119FD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933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8C3F7C-7FE2-63E6-588D-4E98B5DEA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B0FD706-722D-5CFF-FBF4-B4EF873421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7DF971-F633-4FE3-BDA3-57FADC433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AF60B5-17E2-4133-7F2C-658008367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9FA9-BA64-48F5-9257-BA7D5AB003B1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773623-BF7D-51C3-1983-01721E6F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E43625-8D48-74B4-AC4B-4288DCEE3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8A44E-9925-4BBF-ADCC-550A119FD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933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095846-8B5C-3B82-AB34-A2239B6CF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72706D-0424-6130-DAA7-6B0071E7E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8273CA-5829-4A87-9046-C03C1CAAA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9FA9-BA64-48F5-9257-BA7D5AB003B1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2E281C-430A-E4C3-F0B0-4BE2A0BEB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76CEA5-1227-0157-CA7A-9D5BC79E8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8A44E-9925-4BBF-ADCC-550A119FD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387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3782B2-879B-84D2-C6ED-8B678A0C3B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5EBA96-02CD-9404-9D05-FB0FCA2AC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893A55-91F7-484B-7C4B-AF66DC92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9FA9-BA64-48F5-9257-BA7D5AB003B1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F25D6A-7E39-215E-860A-041EEB2DC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1B6B79-E889-7B57-440E-2BF2DF0E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8A44E-9925-4BBF-ADCC-550A119FD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81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E850567-D113-F567-D4C8-ABD75A659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3459B7-71B0-E18F-6A86-B9C906D09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36253A-C7C5-13B4-C483-E511190547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79FA9-BA64-48F5-9257-BA7D5AB003B1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AE2340-538C-8128-CADE-6B0FDC42F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C26DA9-D8CC-73BE-27DF-7450DC442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8A44E-9925-4BBF-ADCC-550A119FD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16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9046A-43D5-6539-267D-A8DF6E47E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E052D35B-CB5D-376F-50E3-F16AD4EB93C5}"/>
              </a:ext>
            </a:extLst>
          </p:cNvPr>
          <p:cNvSpPr txBox="1"/>
          <p:nvPr/>
        </p:nvSpPr>
        <p:spPr>
          <a:xfrm>
            <a:off x="1719945" y="3074396"/>
            <a:ext cx="9042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线性代数角度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</a:p>
          <a:p>
            <a:r>
              <a:rPr lang="el-GR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Φ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N×1 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列向量</a:t>
            </a:r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l-GR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Θ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N×N 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矩阵</a:t>
            </a:r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e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：标量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ACB57E-208D-1219-58F3-FD45D41E8485}"/>
              </a:ext>
            </a:extLst>
          </p:cNvPr>
          <p:cNvSpPr txBox="1"/>
          <p:nvPr/>
        </p:nvSpPr>
        <p:spPr>
          <a:xfrm>
            <a:off x="319316" y="1016000"/>
            <a:ext cx="904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对于任何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化学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系统，都存在一个所谓的</a:t>
            </a:r>
            <a:r>
              <a:rPr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波函数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，以及适当的</a:t>
            </a:r>
            <a:r>
              <a:rPr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算符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作用于该系统，使其返回可观测的性质。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3E58F7-DFB6-D780-BB7F-98F25EC47D36}"/>
              </a:ext>
            </a:extLst>
          </p:cNvPr>
          <p:cNvSpPr txBox="1"/>
          <p:nvPr/>
        </p:nvSpPr>
        <p:spPr>
          <a:xfrm>
            <a:off x="319316" y="384628"/>
            <a:ext cx="165462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波函数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6DC588-979C-25DF-9DDC-ABF8E6D81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908" y="2083998"/>
            <a:ext cx="2858181" cy="966535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923B16C-512C-5B71-7D5F-67FCFFEAE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573773"/>
              </p:ext>
            </p:extLst>
          </p:nvPr>
        </p:nvGraphicFramePr>
        <p:xfrm>
          <a:off x="3316513" y="3074396"/>
          <a:ext cx="8128000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0953444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93943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2200" b="1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Φ</a:t>
                      </a:r>
                      <a:endParaRPr lang="zh-CN" altLang="en-US" sz="2200" b="1" baseline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本征函数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040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2200" b="1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Θ</a:t>
                      </a:r>
                      <a:endParaRPr lang="zh-CN" altLang="en-US" sz="2200" b="1" baseline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操作算符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795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endParaRPr lang="zh-CN" altLang="en-US" sz="2200" b="1" baseline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本征值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553678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177FB90D-B8FA-E37B-ECBF-52D74481C54E}"/>
              </a:ext>
            </a:extLst>
          </p:cNvPr>
          <p:cNvSpPr txBox="1"/>
          <p:nvPr/>
        </p:nvSpPr>
        <p:spPr>
          <a:xfrm>
            <a:off x="319316" y="4581682"/>
            <a:ext cx="54020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合格波函数的要求：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单值性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函数映射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、连续性、有限性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二次可积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</a:p>
          <a:p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|Φ* Φ|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的意义：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概率密度</a:t>
            </a:r>
            <a:endParaRPr lang="en-US" altLang="zh-CN" sz="22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一般不处理含时的薛定谔方程，只关注实数部分。因此缩写为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|Φ²|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308801C-1C45-E87C-E783-E31EFA8DB9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529" y="4378419"/>
            <a:ext cx="4544216" cy="240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49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A7A4185-13FC-E7B7-8CED-A6B76EEAD523}"/>
              </a:ext>
            </a:extLst>
          </p:cNvPr>
          <p:cNvSpPr txBox="1"/>
          <p:nvPr/>
        </p:nvSpPr>
        <p:spPr>
          <a:xfrm>
            <a:off x="319316" y="1016000"/>
            <a:ext cx="904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薛定谔方程：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80AB89-8830-1151-ACC3-29A9715D829E}"/>
              </a:ext>
            </a:extLst>
          </p:cNvPr>
          <p:cNvSpPr txBox="1"/>
          <p:nvPr/>
        </p:nvSpPr>
        <p:spPr>
          <a:xfrm>
            <a:off x="319316" y="384628"/>
            <a:ext cx="367440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哈密顿量 薛定谔方程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681AFF3-6DB4-3AF8-9A24-CDBC3D527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362" y="1542554"/>
            <a:ext cx="1819275" cy="48577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B48A8F8-2D92-CBE0-8378-A072E9212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35" y="2231659"/>
            <a:ext cx="10096727" cy="124791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7AE75B6-4BCB-45DF-C6D0-DB90321CE7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963" y="3953345"/>
            <a:ext cx="3336701" cy="88561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2A3FE7F-C152-D57F-7FCC-C37923CCA5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963" y="5566211"/>
            <a:ext cx="2114550" cy="1019175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8ADB3A74-B8E8-5A49-8221-221A2A7D462C}"/>
              </a:ext>
            </a:extLst>
          </p:cNvPr>
          <p:cNvSpPr txBox="1"/>
          <p:nvPr/>
        </p:nvSpPr>
        <p:spPr>
          <a:xfrm>
            <a:off x="319316" y="3398306"/>
            <a:ext cx="904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Laplacian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算符：                                          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Kronecker Delta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69431C8-6481-DF50-610C-1D4BCD9B5244}"/>
              </a:ext>
            </a:extLst>
          </p:cNvPr>
          <p:cNvSpPr txBox="1"/>
          <p:nvPr/>
        </p:nvSpPr>
        <p:spPr>
          <a:xfrm>
            <a:off x="319316" y="4963109"/>
            <a:ext cx="904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动能算符：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A20D895-66AF-4AFF-E07A-49A9DB23B384}"/>
              </a:ext>
            </a:extLst>
          </p:cNvPr>
          <p:cNvSpPr txBox="1"/>
          <p:nvPr/>
        </p:nvSpPr>
        <p:spPr>
          <a:xfrm>
            <a:off x="2380343" y="2081161"/>
            <a:ext cx="8586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电子动能              原子核动能       电子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核相互作用  电子相互作用    核相互作用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32409687-B38E-350C-7842-95BFF796D3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446" y="3943607"/>
            <a:ext cx="3819525" cy="89535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A140CA36-BE0F-68AA-7608-27D6580D7F83}"/>
              </a:ext>
            </a:extLst>
          </p:cNvPr>
          <p:cNvSpPr txBox="1"/>
          <p:nvPr/>
        </p:nvSpPr>
        <p:spPr>
          <a:xfrm>
            <a:off x="7287948" y="4906780"/>
            <a:ext cx="28825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当且仅当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i = j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，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δ</a:t>
            </a:r>
            <a:r>
              <a:rPr lang="en-US" altLang="zh-CN" sz="2200" b="1" baseline="-25000">
                <a:latin typeface="Arial" panose="020B0604020202020204" pitchFamily="34" charset="0"/>
                <a:ea typeface="微软雅黑" panose="020B0503020204020204" pitchFamily="34" charset="-122"/>
              </a:rPr>
              <a:t>ij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 = 1</a:t>
            </a:r>
            <a:endParaRPr lang="zh-CN" altLang="en-US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8896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E7E4B-B33F-14A6-7865-9E19FC7DD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22EC18B-60AE-F709-CF71-6FAC41357D4D}"/>
              </a:ext>
            </a:extLst>
          </p:cNvPr>
          <p:cNvSpPr txBox="1"/>
          <p:nvPr/>
        </p:nvSpPr>
        <p:spPr>
          <a:xfrm>
            <a:off x="319316" y="1016000"/>
            <a:ext cx="904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证明变分原理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假设波函数线性组合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基函数形成正交完备集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F4A0D6-65E2-4652-561E-C63A3F4ADA42}"/>
              </a:ext>
            </a:extLst>
          </p:cNvPr>
          <p:cNvSpPr txBox="1"/>
          <p:nvPr/>
        </p:nvSpPr>
        <p:spPr>
          <a:xfrm>
            <a:off x="319316" y="384628"/>
            <a:ext cx="197522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变分原理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C2646B-4FFF-E670-D24C-0F22863FE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123" y="1601205"/>
            <a:ext cx="2101753" cy="11017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3330E19-8F54-3530-9125-BF3865ECC9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265" y="2586188"/>
            <a:ext cx="4304955" cy="322694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0AF0AE0-BA4B-092C-5CDD-5D95B27FEB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639" y="2436461"/>
            <a:ext cx="5198664" cy="337667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877B013-64BB-DF76-6C37-E89EE323BA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376" y="5914571"/>
            <a:ext cx="5479248" cy="796403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3B39DEA-3FF2-0C39-90E7-2EBCE291F4BC}"/>
              </a:ext>
            </a:extLst>
          </p:cNvPr>
          <p:cNvCxnSpPr/>
          <p:nvPr/>
        </p:nvCxnSpPr>
        <p:spPr>
          <a:xfrm>
            <a:off x="5101771" y="6458857"/>
            <a:ext cx="338649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791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09FF8-8B92-F607-7D84-8862F7E27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FA47F9A-746E-537D-5A40-EAFAEBFC98E4}"/>
              </a:ext>
            </a:extLst>
          </p:cNvPr>
          <p:cNvSpPr txBox="1"/>
          <p:nvPr/>
        </p:nvSpPr>
        <p:spPr>
          <a:xfrm>
            <a:off x="319316" y="384628"/>
            <a:ext cx="197522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变分原理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2E56308-A313-44BB-B282-A86D0A885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885" y="1441924"/>
            <a:ext cx="4664229" cy="340562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FE4341A4-7580-3B7D-FB49-4B58FDFB9A78}"/>
              </a:ext>
            </a:extLst>
          </p:cNvPr>
          <p:cNvSpPr/>
          <p:nvPr/>
        </p:nvSpPr>
        <p:spPr>
          <a:xfrm>
            <a:off x="4223657" y="2561771"/>
            <a:ext cx="3519714" cy="228578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A45688-FF4E-92A2-8F67-7B7515423C71}"/>
              </a:ext>
            </a:extLst>
          </p:cNvPr>
          <p:cNvSpPr txBox="1"/>
          <p:nvPr/>
        </p:nvSpPr>
        <p:spPr>
          <a:xfrm rot="10800000" flipV="1">
            <a:off x="656771" y="5275942"/>
            <a:ext cx="106534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波函数能量越低越好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。我们不必将我们的猜测波函数构造为正交波函数的线性组合，可以用任何希望的方式来构造它。</a:t>
            </a:r>
          </a:p>
        </p:txBody>
      </p:sp>
    </p:spTree>
    <p:extLst>
      <p:ext uri="{BB962C8B-B14F-4D97-AF65-F5344CB8AC3E}">
        <p14:creationId xmlns:p14="http://schemas.microsoft.com/office/powerpoint/2010/main" val="943768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0CBBD-D0EC-F427-5625-C4FB5CD8D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82F1955-D854-F2DB-D371-E844B54EFCCD}"/>
              </a:ext>
            </a:extLst>
          </p:cNvPr>
          <p:cNvSpPr txBox="1"/>
          <p:nvPr/>
        </p:nvSpPr>
        <p:spPr>
          <a:xfrm>
            <a:off x="319316" y="384628"/>
            <a:ext cx="618066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en-US" altLang="zh-CN" sz="25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Born-Oppenheimer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近似 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绝热近似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5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D973BE0-0F68-78C8-E3E1-607861DA2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285" y="2491301"/>
            <a:ext cx="5971429" cy="66666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51A440A-CBB7-D877-5AF4-E68F082CA33F}"/>
              </a:ext>
            </a:extLst>
          </p:cNvPr>
          <p:cNvSpPr txBox="1"/>
          <p:nvPr/>
        </p:nvSpPr>
        <p:spPr>
          <a:xfrm rot="10800000" flipV="1">
            <a:off x="656771" y="1291771"/>
            <a:ext cx="106534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解耦电子和原子核的运动。先固定原子核的位置分析电子，再用求解电子运动的结果解决原子核运动。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37D9D08-9D0B-5867-3A46-FEF1C835CED7}"/>
              </a:ext>
            </a:extLst>
          </p:cNvPr>
          <p:cNvSpPr txBox="1"/>
          <p:nvPr/>
        </p:nvSpPr>
        <p:spPr>
          <a:xfrm>
            <a:off x="656771" y="3429000"/>
            <a:ext cx="789671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H</a:t>
            </a:r>
            <a:r>
              <a:rPr lang="en-US" altLang="zh-CN" sz="2200" b="1" baseline="-25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el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：电子动能、电子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-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电子排斥能、电子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-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核吸引能</a:t>
            </a:r>
            <a:endParaRPr lang="en-US" altLang="zh-CN" sz="22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V</a:t>
            </a:r>
            <a:r>
              <a:rPr lang="en-US" altLang="zh-CN" sz="2200" b="1" baseline="-25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：核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-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核相互作用</a:t>
            </a:r>
            <a:endParaRPr lang="en-US" altLang="zh-CN" sz="22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q</a:t>
            </a:r>
            <a:r>
              <a:rPr lang="en-US" altLang="zh-CN" sz="2200" b="1" baseline="-25000"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：电子坐标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变量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q</a:t>
            </a:r>
            <a:r>
              <a:rPr lang="en-US" altLang="zh-CN" sz="2200" b="1" baseline="-25000">
                <a:latin typeface="Arial" panose="020B0604020202020204" pitchFamily="34" charset="0"/>
                <a:ea typeface="微软雅黑" panose="020B0503020204020204" pitchFamily="34" charset="-122"/>
              </a:rPr>
              <a:t>k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：原子核坐标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常数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</a:p>
          <a:p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电子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-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核关联已被消除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。剩下的关联，即单个电子之间的关联，</a:t>
            </a:r>
          </a:p>
        </p:txBody>
      </p:sp>
    </p:spTree>
    <p:extLst>
      <p:ext uri="{BB962C8B-B14F-4D97-AF65-F5344CB8AC3E}">
        <p14:creationId xmlns:p14="http://schemas.microsoft.com/office/powerpoint/2010/main" val="2112135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3F34D-7533-E882-5347-8C2731851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C1C3ADD-9CF7-CE92-4CE5-095873D14316}"/>
              </a:ext>
            </a:extLst>
          </p:cNvPr>
          <p:cNvSpPr txBox="1"/>
          <p:nvPr/>
        </p:nvSpPr>
        <p:spPr>
          <a:xfrm>
            <a:off x="319316" y="384628"/>
            <a:ext cx="1033808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en-US" altLang="zh-CN" sz="25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LCAO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US" altLang="zh-CN" sz="25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Liner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5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Combination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5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5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Atomic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5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Orbitals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原子轨道线性组合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0FF57F5-5500-25B6-5427-F3AFA9284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337" y="973982"/>
            <a:ext cx="2219325" cy="14859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BCFA7A4-A7FE-2C53-9FC6-A2F9079D1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73" y="2931268"/>
            <a:ext cx="5424626" cy="321326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940A9B2-01CE-255F-275F-F308970580AE}"/>
              </a:ext>
            </a:extLst>
          </p:cNvPr>
          <p:cNvSpPr txBox="1"/>
          <p:nvPr/>
        </p:nvSpPr>
        <p:spPr>
          <a:xfrm>
            <a:off x="6575897" y="3683822"/>
            <a:ext cx="520754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>
                <a:latin typeface="Arial" panose="020B0604020202020204" pitchFamily="34" charset="0"/>
                <a:ea typeface="微软雅黑" panose="020B0503020204020204" pitchFamily="34" charset="-122"/>
              </a:rPr>
              <a:t>虽然右边在原子中心上使用</a:t>
            </a:r>
            <a:r>
              <a:rPr lang="en-US" altLang="zh-CN" sz="2100" b="1">
                <a:latin typeface="Arial" panose="020B0604020202020204" pitchFamily="34" charset="0"/>
                <a:ea typeface="微软雅黑" panose="020B0503020204020204" pitchFamily="34" charset="-122"/>
              </a:rPr>
              <a:t>s</a:t>
            </a:r>
            <a:r>
              <a:rPr lang="zh-CN" altLang="en-US" sz="2100" b="1"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lang="en-US" altLang="zh-CN" sz="2100" b="1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zh-CN" altLang="en-US" sz="2100" b="1">
                <a:latin typeface="Arial" panose="020B0604020202020204" pitchFamily="34" charset="0"/>
                <a:ea typeface="微软雅黑" panose="020B0503020204020204" pitchFamily="34" charset="-122"/>
              </a:rPr>
              <a:t>轨道作为基组会更符合化学直觉。但左边设置的全部为</a:t>
            </a:r>
            <a:r>
              <a:rPr lang="en-US" altLang="zh-CN" sz="2100" b="1">
                <a:latin typeface="Arial" panose="020B0604020202020204" pitchFamily="34" charset="0"/>
                <a:ea typeface="微软雅黑" panose="020B0503020204020204" pitchFamily="34" charset="-122"/>
              </a:rPr>
              <a:t>s</a:t>
            </a:r>
            <a:r>
              <a:rPr lang="zh-CN" altLang="en-US" sz="2100" b="1">
                <a:latin typeface="Arial" panose="020B0604020202020204" pitchFamily="34" charset="0"/>
                <a:ea typeface="微软雅黑" panose="020B0503020204020204" pitchFamily="34" charset="-122"/>
              </a:rPr>
              <a:t>轨道函数的基组会有一定的计算优势，主要原因是</a:t>
            </a:r>
            <a:r>
              <a:rPr lang="zh-CN" altLang="en-US" sz="21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使用</a:t>
            </a:r>
            <a:r>
              <a:rPr lang="en-US" altLang="zh-CN" sz="21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</a:t>
            </a:r>
            <a:r>
              <a:rPr lang="zh-CN" altLang="en-US" sz="21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函数比使用</a:t>
            </a:r>
            <a:r>
              <a:rPr lang="en-US" altLang="zh-CN" sz="21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zh-CN" altLang="en-US" sz="21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函数更简单</a:t>
            </a:r>
            <a:r>
              <a:rPr lang="zh-CN" altLang="en-US" sz="2100" b="1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lang="en-US" altLang="zh-CN" sz="21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100" b="1">
                <a:latin typeface="Arial" panose="020B0604020202020204" pitchFamily="34" charset="0"/>
                <a:ea typeface="微软雅黑" panose="020B0503020204020204" pitchFamily="34" charset="-122"/>
              </a:rPr>
              <a:t>因此，</a:t>
            </a:r>
            <a:r>
              <a:rPr lang="zh-CN" altLang="en-US" sz="21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对于</a:t>
            </a:r>
            <a:r>
              <a:rPr lang="en-US" altLang="zh-CN" sz="21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LCAO</a:t>
            </a:r>
            <a:r>
              <a:rPr lang="zh-CN" altLang="en-US" sz="21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的基组的化学解释要谨慎</a:t>
            </a:r>
            <a:r>
              <a:rPr lang="zh-CN" altLang="en-US" sz="2100" b="1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88966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5CCBE-97AF-AFD3-3FCB-D1D2B9655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3853CBA-1E13-905B-2197-66C9175EEF27}"/>
              </a:ext>
            </a:extLst>
          </p:cNvPr>
          <p:cNvSpPr txBox="1"/>
          <p:nvPr/>
        </p:nvSpPr>
        <p:spPr>
          <a:xfrm>
            <a:off x="319316" y="384628"/>
            <a:ext cx="229582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久期行列式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17781D-7C8F-50EB-E7A5-B292851DFDE4}"/>
              </a:ext>
            </a:extLst>
          </p:cNvPr>
          <p:cNvSpPr txBox="1"/>
          <p:nvPr/>
        </p:nvSpPr>
        <p:spPr>
          <a:xfrm>
            <a:off x="448147" y="1055806"/>
            <a:ext cx="52075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>
                <a:latin typeface="Arial" panose="020B0604020202020204" pitchFamily="34" charset="0"/>
                <a:ea typeface="微软雅黑" panose="020B0503020204020204" pitchFamily="34" charset="-122"/>
              </a:rPr>
              <a:t>由变分原理知，猜测能量为：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ECAC51-4781-8EB5-BF68-C70FF98A8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93" y="1563571"/>
            <a:ext cx="4240213" cy="18654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F1E7210-F956-8B99-C8EA-FE85B5B410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35" y="3638550"/>
            <a:ext cx="3155803" cy="305718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FA5749A-12A3-B4EF-6856-F6E0A53563E2}"/>
              </a:ext>
            </a:extLst>
          </p:cNvPr>
          <p:cNvSpPr txBox="1"/>
          <p:nvPr/>
        </p:nvSpPr>
        <p:spPr>
          <a:xfrm>
            <a:off x="5014085" y="1965444"/>
            <a:ext cx="702875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H</a:t>
            </a:r>
            <a:r>
              <a:rPr lang="en-US" altLang="zh-CN" sz="2200" b="1" baseline="-25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ij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 = j 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库伦积分； 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 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≠ 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j 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交换积分</a:t>
            </a:r>
            <a:endParaRPr lang="en-US" altLang="zh-CN" sz="22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库伦积分：  近似代表了孤立原子能量。即原子轨道在周围分子环境中的电离能。</a:t>
            </a:r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交换积分：大的重叠积分的轨道同样会产生大交换积分。</a:t>
            </a:r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当电子同时属于两个以上轨道时，比它只属于单一轨道具有更低的能量，来源是共振。</a:t>
            </a:r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交换积分与原子重叠程度和孤立原子能量有关。</a:t>
            </a:r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2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</a:t>
            </a:r>
            <a:r>
              <a:rPr lang="en-US" altLang="zh-CN" sz="2200" b="1" baseline="-25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ij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重叠积分</a:t>
            </a:r>
            <a:endParaRPr lang="en-US" altLang="zh-CN" sz="22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两个基组在空间上以相位匹配的方式重叠的程度。</a:t>
            </a:r>
          </a:p>
        </p:txBody>
      </p:sp>
    </p:spTree>
    <p:extLst>
      <p:ext uri="{BB962C8B-B14F-4D97-AF65-F5344CB8AC3E}">
        <p14:creationId xmlns:p14="http://schemas.microsoft.com/office/powerpoint/2010/main" val="2183719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64564-3902-5A8B-3E56-8EC44F15B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1E7D919-7B31-F199-E69E-D1F5B2CE32B3}"/>
              </a:ext>
            </a:extLst>
          </p:cNvPr>
          <p:cNvSpPr txBox="1"/>
          <p:nvPr/>
        </p:nvSpPr>
        <p:spPr>
          <a:xfrm>
            <a:off x="319316" y="384628"/>
            <a:ext cx="229582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久期行列式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84BEC1-85DF-AB34-D20C-9C357B8A9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67" y="1148370"/>
            <a:ext cx="2981325" cy="12668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76A6CBC-59CB-AFCB-5CFB-296188069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67" y="2824795"/>
            <a:ext cx="4220258" cy="113226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DC8FB67-69E4-F220-FAB7-D94A401EF7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37" y="4378308"/>
            <a:ext cx="6136165" cy="158971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6029150-75CB-2C96-F7CC-C146125A64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857" y="68454"/>
            <a:ext cx="4362176" cy="656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96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DB8A6-E2C5-AFA9-E930-5B3101D40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2338E8A-08EA-FC64-1E20-0112C47C34D0}"/>
              </a:ext>
            </a:extLst>
          </p:cNvPr>
          <p:cNvSpPr txBox="1"/>
          <p:nvPr/>
        </p:nvSpPr>
        <p:spPr>
          <a:xfrm>
            <a:off x="319316" y="384628"/>
            <a:ext cx="229582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久期行列式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4092A56-2F2B-31D7-DEDE-8B717B53BE5A}"/>
              </a:ext>
            </a:extLst>
          </p:cNvPr>
          <p:cNvSpPr txBox="1"/>
          <p:nvPr/>
        </p:nvSpPr>
        <p:spPr>
          <a:xfrm>
            <a:off x="319316" y="2305050"/>
            <a:ext cx="6862776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最优单电子波函数确定过程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每个分子轨道自动正交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200" b="1">
              <a:solidFill>
                <a:srgbClr val="7030A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1.</a:t>
            </a:r>
            <a:r>
              <a:rPr lang="zh-CN" altLang="en-US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确定</a:t>
            </a:r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r>
              <a:rPr lang="zh-CN" altLang="en-US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个基组。</a:t>
            </a:r>
            <a:endParaRPr lang="en-US" altLang="zh-CN" sz="2200" b="1">
              <a:solidFill>
                <a:srgbClr val="7030A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2.</a:t>
            </a:r>
            <a:r>
              <a:rPr lang="zh-CN" altLang="en-US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以</a:t>
            </a:r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r>
              <a:rPr lang="zh-CN" altLang="en-US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个基组为起点，确定</a:t>
            </a:r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H</a:t>
            </a:r>
            <a:r>
              <a:rPr lang="en-US" altLang="zh-CN" sz="2200" b="1" baseline="-25000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ij</a:t>
            </a:r>
            <a:r>
              <a:rPr lang="zh-CN" altLang="en-US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与</a:t>
            </a:r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</a:t>
            </a:r>
            <a:r>
              <a:rPr lang="en-US" altLang="zh-CN" sz="2200" b="1" baseline="-25000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ij</a:t>
            </a:r>
            <a:r>
              <a:rPr lang="zh-CN" altLang="en-US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各</a:t>
            </a:r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r>
              <a:rPr lang="en-US" altLang="zh-CN" sz="2200" b="1" baseline="30000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</a:t>
            </a:r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3.</a:t>
            </a:r>
            <a:r>
              <a:rPr lang="zh-CN" altLang="en-US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形成久期行列式，确定</a:t>
            </a:r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r>
              <a:rPr lang="zh-CN" altLang="en-US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个解</a:t>
            </a:r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</a:t>
            </a:r>
            <a:r>
              <a:rPr lang="en-US" altLang="zh-CN" sz="2200" b="1" baseline="-25000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j</a:t>
            </a:r>
            <a:r>
              <a:rPr lang="zh-CN" altLang="en-US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的值。</a:t>
            </a:r>
            <a:endParaRPr lang="en-US" altLang="zh-CN" sz="2200" b="1">
              <a:solidFill>
                <a:srgbClr val="7030A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4.</a:t>
            </a:r>
            <a:r>
              <a:rPr lang="zh-CN" altLang="en-US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用</a:t>
            </a:r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r>
              <a:rPr lang="zh-CN" altLang="en-US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</a:t>
            </a:r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</a:t>
            </a:r>
            <a:r>
              <a:rPr lang="en-US" altLang="zh-CN" sz="2200" b="1" baseline="-25000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j</a:t>
            </a:r>
            <a:r>
              <a:rPr lang="zh-CN" altLang="en-US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的值以及</a:t>
            </a:r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H</a:t>
            </a:r>
            <a:r>
              <a:rPr lang="en-US" altLang="zh-CN" sz="2200" b="1" baseline="-25000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ij</a:t>
            </a:r>
            <a:r>
              <a:rPr lang="zh-CN" altLang="en-US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</a:t>
            </a:r>
            <a:r>
              <a:rPr lang="en-US" altLang="zh-CN" sz="2200" b="1" baseline="-25000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ij</a:t>
            </a:r>
            <a:r>
              <a:rPr lang="zh-CN" altLang="en-US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求解</a:t>
            </a:r>
            <a:r>
              <a:rPr lang="en-US" altLang="zh-CN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r>
              <a:rPr lang="en-US" altLang="zh-CN" sz="2200" b="1" baseline="-25000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ij</a:t>
            </a:r>
            <a:r>
              <a:rPr lang="zh-CN" altLang="en-US" sz="2200" b="1">
                <a:solidFill>
                  <a:srgbClr val="7030A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系数。</a:t>
            </a:r>
            <a:endParaRPr lang="en-US" altLang="zh-CN" sz="2200" b="1">
              <a:solidFill>
                <a:srgbClr val="7030A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200" b="1">
              <a:solidFill>
                <a:srgbClr val="7030A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C3C0EC-8AB7-1B09-4AD7-724A1AF70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237" y="1009650"/>
            <a:ext cx="3039298" cy="53276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B6C74EF-88BA-8974-A1E0-600F59C956B5}"/>
              </a:ext>
            </a:extLst>
          </p:cNvPr>
          <p:cNvSpPr txBox="1"/>
          <p:nvPr/>
        </p:nvSpPr>
        <p:spPr>
          <a:xfrm>
            <a:off x="7981950" y="633730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同一个分子的不同轨道正交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264889D-38FE-431F-3506-E1C7E1D39190}"/>
              </a:ext>
            </a:extLst>
          </p:cNvPr>
          <p:cNvSpPr txBox="1"/>
          <p:nvPr/>
        </p:nvSpPr>
        <p:spPr>
          <a:xfrm>
            <a:off x="2615137" y="11678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86446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6A0AE-4B10-D9BD-709F-75B0FEF21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A360010-FAAD-1159-C274-EE9FB3419E66}"/>
              </a:ext>
            </a:extLst>
          </p:cNvPr>
          <p:cNvSpPr txBox="1"/>
          <p:nvPr/>
        </p:nvSpPr>
        <p:spPr>
          <a:xfrm>
            <a:off x="319316" y="384628"/>
            <a:ext cx="36663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七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en-US" altLang="zh-CN" sz="2500" b="1">
                <a:solidFill>
                  <a:srgbClr val="191B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Hückel</a:t>
            </a:r>
            <a:r>
              <a:rPr lang="zh-CN" altLang="en-US" sz="2500" b="1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分子轨道理论</a:t>
            </a:r>
            <a:endParaRPr lang="zh-CN" altLang="en-US" sz="25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9EF8F9-77AC-C956-17FB-667DE881C6B9}"/>
              </a:ext>
            </a:extLst>
          </p:cNvPr>
          <p:cNvSpPr txBox="1"/>
          <p:nvPr/>
        </p:nvSpPr>
        <p:spPr>
          <a:xfrm>
            <a:off x="2615137" y="1009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B43A21-3E79-1FF7-0E92-0593971DA4CA}"/>
              </a:ext>
            </a:extLst>
          </p:cNvPr>
          <p:cNvSpPr txBox="1"/>
          <p:nvPr/>
        </p:nvSpPr>
        <p:spPr>
          <a:xfrm>
            <a:off x="560873" y="1194316"/>
            <a:ext cx="1107025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>
                <a:solidFill>
                  <a:srgbClr val="191B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Hückel</a:t>
            </a:r>
            <a:r>
              <a:rPr lang="zh-CN" altLang="en-US" sz="2200" b="1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分子轨道理论承认分子轨道理论全部内容：</a:t>
            </a:r>
            <a:endParaRPr lang="en-US" altLang="zh-CN" sz="2200" b="1">
              <a:solidFill>
                <a:srgbClr val="19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200" b="1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(1)</a:t>
            </a:r>
            <a:r>
              <a:rPr lang="zh-CN" altLang="en-US" sz="2200" b="1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单电子近似</a:t>
            </a:r>
            <a:r>
              <a:rPr lang="en-US" altLang="zh-CN" sz="2200" b="1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</a:p>
          <a:p>
            <a:r>
              <a:rPr lang="en-US" altLang="zh-CN" sz="2200" b="1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(2)</a:t>
            </a:r>
            <a:r>
              <a:rPr lang="zh-CN" altLang="en-US" sz="2200" b="1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分子轨道采用</a:t>
            </a:r>
            <a:r>
              <a:rPr lang="en-US" altLang="zh-CN" sz="22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LCAO</a:t>
            </a:r>
            <a:r>
              <a:rPr lang="zh-CN" altLang="en-US" sz="2200" b="1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获得，用变分法得分子轨道和能级；</a:t>
            </a:r>
            <a:endParaRPr lang="en-US" altLang="zh-CN" sz="2200" b="1">
              <a:solidFill>
                <a:srgbClr val="19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200" b="1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(3)</a:t>
            </a:r>
            <a:r>
              <a:rPr lang="zh-CN" altLang="en-US" sz="2200" b="1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分子轨道内电子排布满足能量最低原理、</a:t>
            </a:r>
            <a:r>
              <a:rPr lang="en-US" altLang="zh-CN" sz="22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Pauil</a:t>
            </a:r>
            <a:r>
              <a:rPr lang="zh-CN" altLang="en-US" sz="2200" b="1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原理和</a:t>
            </a:r>
            <a:r>
              <a:rPr lang="en-US" altLang="zh-CN" sz="22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Hund</a:t>
            </a:r>
            <a:r>
              <a:rPr lang="zh-CN" altLang="en-US" sz="2200" b="1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规则。</a:t>
            </a:r>
            <a:endParaRPr lang="en-US" altLang="zh-CN" sz="2200" b="1">
              <a:solidFill>
                <a:srgbClr val="19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200" b="1">
              <a:solidFill>
                <a:srgbClr val="19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2200" b="1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增加的假设：</a:t>
            </a:r>
            <a:endParaRPr lang="en-US" altLang="zh-CN" sz="2200" b="1">
              <a:solidFill>
                <a:srgbClr val="19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2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(1)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σ-</a:t>
            </a:r>
            <a:r>
              <a:rPr lang="el-GR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π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分离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：假设</a:t>
            </a:r>
            <a:r>
              <a:rPr lang="el-GR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π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原子可以从各原子实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原子核和内层电子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σ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电子所成的分子骨架中分离出来单独处理。该理论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只研究</a:t>
            </a:r>
            <a:r>
              <a:rPr lang="el-GR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π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电子的部分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200" b="1">
              <a:solidFill>
                <a:srgbClr val="191B1F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2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(2)</a:t>
            </a:r>
            <a:r>
              <a:rPr lang="zh-CN" altLang="en-US" sz="22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积分近似</a:t>
            </a:r>
            <a:endParaRPr lang="en-US" altLang="zh-CN" sz="2200" b="1">
              <a:solidFill>
                <a:srgbClr val="191B1F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200" b="1" baseline="-25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ij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δ</a:t>
            </a:r>
            <a:r>
              <a:rPr lang="en-US" altLang="zh-CN" sz="2200" b="1" baseline="-25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ij</a:t>
            </a:r>
            <a:endParaRPr lang="en-US" altLang="zh-CN" sz="22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</a:t>
            </a:r>
            <a:r>
              <a:rPr lang="en-US" altLang="zh-CN" sz="2200" b="1" baseline="-25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ii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α</a:t>
            </a:r>
          </a:p>
          <a:p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</a:t>
            </a:r>
            <a:r>
              <a:rPr lang="en-US" altLang="zh-CN" sz="2200" b="1" baseline="-25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ij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β(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相邻原子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</a:t>
            </a:r>
            <a:r>
              <a:rPr lang="en-US" altLang="zh-CN" sz="2200" b="1" baseline="-25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ij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0(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不相邻原子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10998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64ABC-86D0-3D82-84CE-048C305E5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6B2AF0F-4CDA-B69B-363C-CDF6C577BF2D}"/>
              </a:ext>
            </a:extLst>
          </p:cNvPr>
          <p:cNvSpPr txBox="1"/>
          <p:nvPr/>
        </p:nvSpPr>
        <p:spPr>
          <a:xfrm>
            <a:off x="319316" y="384628"/>
            <a:ext cx="36663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七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en-US" altLang="zh-CN" sz="2500" b="1">
                <a:solidFill>
                  <a:srgbClr val="191B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Hückel</a:t>
            </a:r>
            <a:r>
              <a:rPr lang="zh-CN" altLang="en-US" sz="2500" b="1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分子轨道理论</a:t>
            </a:r>
            <a:endParaRPr lang="zh-CN" altLang="en-US" sz="25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B5D67A-6765-DCA6-CB75-968163E60F90}"/>
              </a:ext>
            </a:extLst>
          </p:cNvPr>
          <p:cNvSpPr txBox="1"/>
          <p:nvPr/>
        </p:nvSpPr>
        <p:spPr>
          <a:xfrm>
            <a:off x="2615137" y="1009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 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5B0FAE-79E2-08CC-B25D-0B4CF106D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553" y="1009650"/>
            <a:ext cx="7315290" cy="5741356"/>
          </a:xfrm>
          <a:prstGeom prst="rect">
            <a:avLst/>
          </a:prstGeom>
          <a:ln w="38100">
            <a:solidFill>
              <a:srgbClr val="7030A0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8A70BB9-C6DB-7B8A-FA31-EB2C7D025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50" y="1378982"/>
            <a:ext cx="3854450" cy="135330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81EAE7D-60FC-9E03-477D-398E056CA6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50" y="2903152"/>
            <a:ext cx="4049713" cy="52584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AEC2B8A-8EF4-7FA1-3F91-34934C0380A3}"/>
              </a:ext>
            </a:extLst>
          </p:cNvPr>
          <p:cNvSpPr txBox="1"/>
          <p:nvPr/>
        </p:nvSpPr>
        <p:spPr>
          <a:xfrm>
            <a:off x="673100" y="3797300"/>
            <a:ext cx="313258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乙烯分子能级 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 = α + β</a:t>
            </a:r>
          </a:p>
          <a:p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烯丙基阳离子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离域能</a:t>
            </a:r>
            <a:endParaRPr lang="en-US" altLang="zh-CN" sz="22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E</a:t>
            </a:r>
            <a:r>
              <a:rPr lang="en-US" altLang="zh-CN" sz="2200" b="1" baseline="-25000">
                <a:latin typeface="Arial" panose="020B0604020202020204" pitchFamily="34" charset="0"/>
                <a:ea typeface="微软雅黑" panose="020B0503020204020204" pitchFamily="34" charset="-122"/>
              </a:rPr>
              <a:t>D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 = -0.83 β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655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B2353-E26F-B596-74AD-26CA0E997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99F2D0D-CE2D-FE96-3E6C-3FFEB3E08120}"/>
              </a:ext>
            </a:extLst>
          </p:cNvPr>
          <p:cNvSpPr txBox="1"/>
          <p:nvPr/>
        </p:nvSpPr>
        <p:spPr>
          <a:xfrm>
            <a:off x="319316" y="384628"/>
            <a:ext cx="571663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多电子波函数 </a:t>
            </a:r>
            <a:r>
              <a:rPr lang="en-US" altLang="zh-CN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 Hatree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积的创建</a:t>
            </a:r>
            <a:endParaRPr lang="zh-CN" altLang="en-US" sz="25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9BFB1FA-B1A7-80F7-1FB9-CEACF59CC65C}"/>
              </a:ext>
            </a:extLst>
          </p:cNvPr>
          <p:cNvSpPr txBox="1"/>
          <p:nvPr/>
        </p:nvSpPr>
        <p:spPr>
          <a:xfrm>
            <a:off x="2615137" y="1009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E05D17-19BB-6037-610A-F32D612FE42B}"/>
              </a:ext>
            </a:extLst>
          </p:cNvPr>
          <p:cNvSpPr txBox="1"/>
          <p:nvPr/>
        </p:nvSpPr>
        <p:spPr>
          <a:xfrm>
            <a:off x="838201" y="1163538"/>
            <a:ext cx="99631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当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Hamiltonian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量仅包含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电子动能和电子</a:t>
            </a:r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-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核吸引能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时候，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Hamiltonian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算符可分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原子单位制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6F1E91-541C-7568-A21D-F400638A4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2039884"/>
            <a:ext cx="3321050" cy="109205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0CC6927-B1B9-E876-11C8-D42F26FCC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143" y="3202530"/>
            <a:ext cx="1731963" cy="99153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B360873-3111-2097-F36D-F216617AC4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872" y="4346841"/>
            <a:ext cx="2018506" cy="66232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2C6E0EC-CAD8-D59C-AFB9-9A2B4803D7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200" y="5623364"/>
            <a:ext cx="2863400" cy="58436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A7C2390-C736-EE29-F1BA-D95FA346A117}"/>
              </a:ext>
            </a:extLst>
          </p:cNvPr>
          <p:cNvSpPr txBox="1"/>
          <p:nvPr/>
        </p:nvSpPr>
        <p:spPr>
          <a:xfrm>
            <a:off x="838200" y="5009163"/>
            <a:ext cx="54248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多电子波函数的构建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(Hartree-product)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CF22E34-547C-6861-6E32-3668370E75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837" y="5592829"/>
            <a:ext cx="1535113" cy="64166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5A54CF2-FB62-A283-8EC1-75B0C68DCF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950" y="5351065"/>
            <a:ext cx="1804988" cy="112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079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3CE8-7C4D-92B2-8829-438DE831B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403BB22-7039-68C9-76B2-9D953E59BFD5}"/>
              </a:ext>
            </a:extLst>
          </p:cNvPr>
          <p:cNvSpPr txBox="1"/>
          <p:nvPr/>
        </p:nvSpPr>
        <p:spPr>
          <a:xfrm>
            <a:off x="319316" y="384628"/>
            <a:ext cx="471795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多电子波函数 </a:t>
            </a:r>
            <a:r>
              <a:rPr lang="en-US" altLang="zh-CN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 SCF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方法</a:t>
            </a:r>
            <a:endParaRPr lang="zh-CN" altLang="en-US" sz="25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7DFB4B-398A-5B03-5A71-D44BC010BCB9}"/>
              </a:ext>
            </a:extLst>
          </p:cNvPr>
          <p:cNvSpPr txBox="1"/>
          <p:nvPr/>
        </p:nvSpPr>
        <p:spPr>
          <a:xfrm>
            <a:off x="2615137" y="1009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DEC1C00-083B-60F8-D476-A8DD4F5F91CF}"/>
              </a:ext>
            </a:extLst>
          </p:cNvPr>
          <p:cNvSpPr txBox="1"/>
          <p:nvPr/>
        </p:nvSpPr>
        <p:spPr>
          <a:xfrm>
            <a:off x="838200" y="1163538"/>
            <a:ext cx="58416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引入其他占据在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{j}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轨道上的电子的相互作用势</a:t>
            </a:r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6A3752-A99D-E3D8-0A4A-8AD6BEFA6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575" y="1749950"/>
            <a:ext cx="4540250" cy="11196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9CA442D-3E96-375A-1B33-415D6B0558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44260"/>
            <a:ext cx="3113272" cy="120173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8E9395E-973A-1A8C-8A10-571F43C82550}"/>
              </a:ext>
            </a:extLst>
          </p:cNvPr>
          <p:cNvSpPr txBox="1"/>
          <p:nvPr/>
        </p:nvSpPr>
        <p:spPr>
          <a:xfrm>
            <a:off x="838200" y="4376737"/>
            <a:ext cx="111722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自洽场方法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：猜测一系列单电子波函数，构建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算符，解出新的单电子波函数与对应能量，并比较与猜测波函数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能量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的差距，迭代更新直到符合收敛准则。</a:t>
            </a:r>
            <a:endParaRPr lang="en-US" altLang="zh-CN" sz="2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能量要扣除一个电子</a:t>
            </a:r>
            <a:r>
              <a:rPr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电子排斥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，因为计算时引入了两次。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69D973-598B-0A9D-F4C7-DD6E3AC27C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993" y="5578474"/>
            <a:ext cx="5104013" cy="112677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DD4B053-F00F-7970-2F5C-16AE974B72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234" y="1696129"/>
            <a:ext cx="6307805" cy="258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283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4663E-0FE4-AAE1-8F34-5080DA49B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E06F67D-B1F2-BAA9-63A2-F970D82EE699}"/>
              </a:ext>
            </a:extLst>
          </p:cNvPr>
          <p:cNvSpPr txBox="1"/>
          <p:nvPr/>
        </p:nvSpPr>
        <p:spPr>
          <a:xfrm>
            <a:off x="319316" y="384628"/>
            <a:ext cx="708880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多电子波函数 </a:t>
            </a:r>
            <a:r>
              <a:rPr lang="en-US" altLang="zh-CN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 Pauil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不相容原理与反对称</a:t>
            </a:r>
            <a:endParaRPr lang="zh-CN" altLang="en-US" sz="25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ED1B8E9-52CF-893C-E64B-DA1F6F8AA072}"/>
              </a:ext>
            </a:extLst>
          </p:cNvPr>
          <p:cNvSpPr txBox="1"/>
          <p:nvPr/>
        </p:nvSpPr>
        <p:spPr>
          <a:xfrm>
            <a:off x="2615137" y="1009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1F5737-03E2-F69C-14D2-CE8FD196AFA0}"/>
              </a:ext>
            </a:extLst>
          </p:cNvPr>
          <p:cNvSpPr txBox="1"/>
          <p:nvPr/>
        </p:nvSpPr>
        <p:spPr>
          <a:xfrm>
            <a:off x="838200" y="1163538"/>
            <a:ext cx="8759129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Pauil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不相容原理：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全同粒子的完全波函数不是对称的就是反对称的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反对称：费米子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自旋量子数为半整数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</a:p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对称：玻色子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自旋量子数为整数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</a:p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全同粒子：所有的粒子具有完全相同的质量、电荷、自旋等性质。</a:t>
            </a:r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假设两个电子体系下的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Hatree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积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自旋方向相同，三重态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Hartree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积是否满足反对称？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No</a:t>
            </a:r>
          </a:p>
          <a:p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345A34E-E156-349E-C6B4-6B75A4F6F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95622"/>
            <a:ext cx="6357938" cy="16048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39875CE-CB37-0033-D1B8-5A2207979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987" y="3250498"/>
            <a:ext cx="4432300" cy="85932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891B510-01A2-2433-EDDE-75BEB17C9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938" y="5011066"/>
            <a:ext cx="5784238" cy="1001371"/>
          </a:xfrm>
          <a:prstGeom prst="rect">
            <a:avLst/>
          </a:prstGeom>
        </p:spPr>
      </p:pic>
      <p:sp>
        <p:nvSpPr>
          <p:cNvPr id="15" name="箭头: 右 14">
            <a:extLst>
              <a:ext uri="{FF2B5EF4-FFF2-40B4-BE49-F238E27FC236}">
                <a16:creationId xmlns:a16="http://schemas.microsoft.com/office/drawing/2014/main" id="{6ABF1862-3EF0-1402-3A2E-B143BA79800C}"/>
              </a:ext>
            </a:extLst>
          </p:cNvPr>
          <p:cNvSpPr/>
          <p:nvPr/>
        </p:nvSpPr>
        <p:spPr>
          <a:xfrm>
            <a:off x="5894388" y="5154592"/>
            <a:ext cx="463550" cy="336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306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335FA-A049-9A77-B148-C89980767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2CF933A-E0AA-68A9-CD94-FF755104C95D}"/>
              </a:ext>
            </a:extLst>
          </p:cNvPr>
          <p:cNvSpPr txBox="1"/>
          <p:nvPr/>
        </p:nvSpPr>
        <p:spPr>
          <a:xfrm>
            <a:off x="319316" y="384628"/>
            <a:ext cx="708880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多电子波函数 </a:t>
            </a:r>
            <a:r>
              <a:rPr lang="en-US" altLang="zh-CN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 Pauil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不相容原理与反对称</a:t>
            </a:r>
            <a:endParaRPr lang="zh-CN" altLang="en-US" sz="25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73AF2E-E8D1-1016-6A43-30CD609D8558}"/>
              </a:ext>
            </a:extLst>
          </p:cNvPr>
          <p:cNvSpPr txBox="1"/>
          <p:nvPr/>
        </p:nvSpPr>
        <p:spPr>
          <a:xfrm>
            <a:off x="2615137" y="1009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 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06AB6E3-1EA7-2001-3B0A-3B9F124FA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431" y="1054308"/>
            <a:ext cx="7135138" cy="945283"/>
          </a:xfrm>
          <a:prstGeom prst="rect">
            <a:avLst/>
          </a:prstGeom>
          <a:ln w="38100">
            <a:solidFill>
              <a:srgbClr val="7030A0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6D88D01-A93C-4393-80C2-A8214FF68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641" y="2044249"/>
            <a:ext cx="8986718" cy="302336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3427665-925E-6AC2-54DD-3839D4200A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870" y="5224813"/>
            <a:ext cx="5978534" cy="1025364"/>
          </a:xfrm>
          <a:prstGeom prst="rect">
            <a:avLst/>
          </a:prstGeom>
          <a:ln w="38100">
            <a:solidFill>
              <a:srgbClr val="7030A0"/>
            </a:solidFill>
          </a:ln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4A63E9D-913C-4F5C-4AA0-34D22664C2E6}"/>
              </a:ext>
            </a:extLst>
          </p:cNvPr>
          <p:cNvSpPr/>
          <p:nvPr/>
        </p:nvSpPr>
        <p:spPr>
          <a:xfrm>
            <a:off x="9462446" y="4770266"/>
            <a:ext cx="1225685" cy="297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927AB23-F598-B29C-D593-44CF5B0E75B2}"/>
              </a:ext>
            </a:extLst>
          </p:cNvPr>
          <p:cNvSpPr txBox="1"/>
          <p:nvPr/>
        </p:nvSpPr>
        <p:spPr>
          <a:xfrm>
            <a:off x="5188540" y="6321543"/>
            <a:ext cx="18149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Slater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行列式</a:t>
            </a:r>
          </a:p>
        </p:txBody>
      </p:sp>
    </p:spTree>
    <p:extLst>
      <p:ext uri="{BB962C8B-B14F-4D97-AF65-F5344CB8AC3E}">
        <p14:creationId xmlns:p14="http://schemas.microsoft.com/office/powerpoint/2010/main" val="875431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9DD23-0B36-0915-6A19-AB075FEAA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3F687C8-3095-05B7-9ED7-84FD7EC74E3F}"/>
              </a:ext>
            </a:extLst>
          </p:cNvPr>
          <p:cNvSpPr txBox="1"/>
          <p:nvPr/>
        </p:nvSpPr>
        <p:spPr>
          <a:xfrm>
            <a:off x="319316" y="384628"/>
            <a:ext cx="708880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多电子波函数 </a:t>
            </a:r>
            <a:r>
              <a:rPr lang="en-US" altLang="zh-CN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 Pauil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不相容原理与反对称</a:t>
            </a:r>
            <a:endParaRPr lang="zh-CN" altLang="en-US" sz="25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712EB7-9388-C695-ED07-01C4F0A29762}"/>
              </a:ext>
            </a:extLst>
          </p:cNvPr>
          <p:cNvSpPr txBox="1"/>
          <p:nvPr/>
        </p:nvSpPr>
        <p:spPr>
          <a:xfrm>
            <a:off x="2615137" y="1009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56F3B30-68D5-2C10-7DEF-B93C9D7C1DB8}"/>
              </a:ext>
            </a:extLst>
          </p:cNvPr>
          <p:cNvSpPr/>
          <p:nvPr/>
        </p:nvSpPr>
        <p:spPr>
          <a:xfrm>
            <a:off x="9494196" y="4643336"/>
            <a:ext cx="1225685" cy="297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76DF70-0F6C-39BA-8B8D-360B73E62E51}"/>
              </a:ext>
            </a:extLst>
          </p:cNvPr>
          <p:cNvSpPr txBox="1"/>
          <p:nvPr/>
        </p:nvSpPr>
        <p:spPr>
          <a:xfrm>
            <a:off x="800217" y="978872"/>
            <a:ext cx="10378162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</a:rPr>
              <a:t>Slater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</a:rPr>
              <a:t>行列式和几种等价形式，</a:t>
            </a:r>
            <a:r>
              <a:rPr lang="el-GR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χ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为自旋轨道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空间轨道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×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自旋函数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endParaRPr lang="en-US" altLang="zh-CN" sz="22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2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2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2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2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2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2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2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2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若两个自旋轨道表示同一个空间轨道的不同自旋状态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即分别为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α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β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，可表示为：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F7491E-F38B-8C8C-0BDF-82163FF28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190" y="1526950"/>
            <a:ext cx="5727893" cy="185521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B9E1C81-DA00-3E48-6818-3F84DCAF4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171" y="3499358"/>
            <a:ext cx="3297930" cy="62560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79850D5-5766-B690-FC31-873277477C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986" y="5078515"/>
            <a:ext cx="2777115" cy="65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641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98EF3-4833-7B59-1346-9234AAA9C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39327F6-15B2-2C6F-9B76-7C9593B2D789}"/>
              </a:ext>
            </a:extLst>
          </p:cNvPr>
          <p:cNvSpPr txBox="1"/>
          <p:nvPr/>
        </p:nvSpPr>
        <p:spPr>
          <a:xfrm>
            <a:off x="319316" y="384628"/>
            <a:ext cx="708880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多电子波函数 </a:t>
            </a:r>
            <a:r>
              <a:rPr lang="en-US" altLang="zh-CN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 Pauil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不相容原理与反对称</a:t>
            </a:r>
            <a:endParaRPr lang="zh-CN" altLang="en-US" sz="25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CADED9-7F74-9B8F-D467-FAB45C21B3A1}"/>
              </a:ext>
            </a:extLst>
          </p:cNvPr>
          <p:cNvSpPr txBox="1"/>
          <p:nvPr/>
        </p:nvSpPr>
        <p:spPr>
          <a:xfrm>
            <a:off x="2615137" y="1009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BEFAEA-E57C-6E5F-FB33-E20BA5160E72}"/>
              </a:ext>
            </a:extLst>
          </p:cNvPr>
          <p:cNvSpPr/>
          <p:nvPr/>
        </p:nvSpPr>
        <p:spPr>
          <a:xfrm>
            <a:off x="9494196" y="4643336"/>
            <a:ext cx="1225685" cy="297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E63C684-D47C-A6BA-2E23-7502126E0A24}"/>
              </a:ext>
            </a:extLst>
          </p:cNvPr>
          <p:cNvSpPr txBox="1"/>
          <p:nvPr/>
        </p:nvSpPr>
        <p:spPr>
          <a:xfrm>
            <a:off x="800217" y="978872"/>
            <a:ext cx="105176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e.g. 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若铍原子的四个电子按照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Pauil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原理、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Hund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规则排布，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Slater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行列式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基态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为：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F8C097D-AF83-EBF2-F6FE-8322B48FE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401" y="1750399"/>
            <a:ext cx="5261471" cy="31902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993734A-AA87-CB85-E321-8870191A3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302" y="4201577"/>
            <a:ext cx="4838095" cy="1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68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7C5E2-4746-07EA-5E3C-D7F09270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259C1CB-945A-132E-8B28-CDDD41DC30ED}"/>
              </a:ext>
            </a:extLst>
          </p:cNvPr>
          <p:cNvSpPr txBox="1"/>
          <p:nvPr/>
        </p:nvSpPr>
        <p:spPr>
          <a:xfrm>
            <a:off x="319316" y="384628"/>
            <a:ext cx="471956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多电子波函数 </a:t>
            </a:r>
            <a:r>
              <a:rPr lang="en-US" altLang="zh-CN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 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费米空穴</a:t>
            </a:r>
            <a:endParaRPr lang="zh-CN" altLang="en-US" sz="25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8840DF-8767-2EA3-384E-C7622DEF0E1C}"/>
              </a:ext>
            </a:extLst>
          </p:cNvPr>
          <p:cNvSpPr txBox="1"/>
          <p:nvPr/>
        </p:nvSpPr>
        <p:spPr>
          <a:xfrm>
            <a:off x="2615137" y="1009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2BBE7D5-949A-50A0-C03E-D7332509B05C}"/>
              </a:ext>
            </a:extLst>
          </p:cNvPr>
          <p:cNvSpPr/>
          <p:nvPr/>
        </p:nvSpPr>
        <p:spPr>
          <a:xfrm>
            <a:off x="9494196" y="4643336"/>
            <a:ext cx="1225685" cy="297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83D52F0-801B-B865-8468-67814146DD50}"/>
              </a:ext>
            </a:extLst>
          </p:cNvPr>
          <p:cNvSpPr txBox="1"/>
          <p:nvPr/>
        </p:nvSpPr>
        <p:spPr>
          <a:xfrm>
            <a:off x="800217" y="978872"/>
            <a:ext cx="66736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两个轨道上两个自旋相同的电子库伦排斥能计算：：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3FA9B1C-0C21-BF63-D2F2-201C899DE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17" y="1526949"/>
            <a:ext cx="6024572" cy="51054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032EC5C-4019-CA2F-57D5-BD1C763F70D2}"/>
              </a:ext>
            </a:extLst>
          </p:cNvPr>
          <p:cNvSpPr txBox="1"/>
          <p:nvPr/>
        </p:nvSpPr>
        <p:spPr>
          <a:xfrm>
            <a:off x="6727513" y="2287250"/>
            <a:ext cx="52498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J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库伦积分</a:t>
            </a:r>
            <a:endParaRPr lang="en-US" altLang="zh-CN" sz="22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交换积分</a:t>
            </a:r>
            <a:endParaRPr lang="en-US" altLang="zh-CN" sz="22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两个轨道上两个自旋相同的电子彼此靠近的可能性降低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费米空穴包围了电子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22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费米空穴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：在某个电子周围，相同自旋的其他电子出现的概率密度显著降低的区域。</a:t>
            </a:r>
          </a:p>
        </p:txBody>
      </p:sp>
    </p:spTree>
    <p:extLst>
      <p:ext uri="{BB962C8B-B14F-4D97-AF65-F5344CB8AC3E}">
        <p14:creationId xmlns:p14="http://schemas.microsoft.com/office/powerpoint/2010/main" val="2529781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01B92-9FD0-90CE-5EA3-6657AB4E5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B85D8A3-BDD0-AD9E-8459-FE88228DEEB2}"/>
              </a:ext>
            </a:extLst>
          </p:cNvPr>
          <p:cNvSpPr txBox="1"/>
          <p:nvPr/>
        </p:nvSpPr>
        <p:spPr>
          <a:xfrm>
            <a:off x="319316" y="384628"/>
            <a:ext cx="471956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多电子波函数 </a:t>
            </a:r>
            <a:r>
              <a:rPr lang="en-US" altLang="zh-CN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 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费米空穴</a:t>
            </a:r>
            <a:endParaRPr lang="zh-CN" altLang="en-US" sz="25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12732C-09A7-2531-434B-BDCE17003AE8}"/>
              </a:ext>
            </a:extLst>
          </p:cNvPr>
          <p:cNvSpPr txBox="1"/>
          <p:nvPr/>
        </p:nvSpPr>
        <p:spPr>
          <a:xfrm>
            <a:off x="2615137" y="1009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AC6A4C-1C77-675F-E14D-EC1E329BD4DC}"/>
              </a:ext>
            </a:extLst>
          </p:cNvPr>
          <p:cNvSpPr/>
          <p:nvPr/>
        </p:nvSpPr>
        <p:spPr>
          <a:xfrm>
            <a:off x="9494196" y="4643336"/>
            <a:ext cx="1225685" cy="297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E0475B4-4AD5-5EB2-AB34-3D14EE962D0D}"/>
              </a:ext>
            </a:extLst>
          </p:cNvPr>
          <p:cNvSpPr txBox="1"/>
          <p:nvPr/>
        </p:nvSpPr>
        <p:spPr>
          <a:xfrm>
            <a:off x="800217" y="978872"/>
            <a:ext cx="66736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两个轨道上两个自旋相反的电子库伦排斥能计算：：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D30101B-1F7B-ECFB-E2C0-7E7371264AA9}"/>
              </a:ext>
            </a:extLst>
          </p:cNvPr>
          <p:cNvSpPr txBox="1"/>
          <p:nvPr/>
        </p:nvSpPr>
        <p:spPr>
          <a:xfrm>
            <a:off x="800217" y="1430282"/>
            <a:ext cx="52498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自旋函数是正交的</a:t>
            </a:r>
            <a:endParaRPr lang="zh-CN" altLang="en-US" sz="22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D04DCB-40A1-89D8-D531-FCCC34078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17" y="1942746"/>
            <a:ext cx="6174539" cy="467395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0084C24-FBD0-6B36-225B-9753DB80A9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494" y="1301750"/>
            <a:ext cx="2750738" cy="48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908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32848-379E-8D97-5AB9-A7BE1E38B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322DEFB-0288-5910-B1D0-56A86958A9C6}"/>
              </a:ext>
            </a:extLst>
          </p:cNvPr>
          <p:cNvSpPr txBox="1"/>
          <p:nvPr/>
        </p:nvSpPr>
        <p:spPr>
          <a:xfrm>
            <a:off x="319316" y="384628"/>
            <a:ext cx="705353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多电子波函数 </a:t>
            </a:r>
            <a:r>
              <a:rPr lang="en-US" altLang="zh-CN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 Hartree-Fork 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自洽场方法</a:t>
            </a:r>
            <a:endParaRPr lang="zh-CN" altLang="en-US" sz="25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A42084-565E-4960-AF30-524A7A97A477}"/>
              </a:ext>
            </a:extLst>
          </p:cNvPr>
          <p:cNvSpPr txBox="1"/>
          <p:nvPr/>
        </p:nvSpPr>
        <p:spPr>
          <a:xfrm>
            <a:off x="2615137" y="1009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00E9487-5AD1-79A8-FC59-510DBAD3C655}"/>
              </a:ext>
            </a:extLst>
          </p:cNvPr>
          <p:cNvSpPr/>
          <p:nvPr/>
        </p:nvSpPr>
        <p:spPr>
          <a:xfrm>
            <a:off x="9494196" y="4643336"/>
            <a:ext cx="1225685" cy="297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619BD00-2921-06AA-C1AA-EC680CCF4F4E}"/>
              </a:ext>
            </a:extLst>
          </p:cNvPr>
          <p:cNvSpPr txBox="1"/>
          <p:nvPr/>
        </p:nvSpPr>
        <p:spPr>
          <a:xfrm>
            <a:off x="800217" y="978872"/>
            <a:ext cx="74347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Fork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首次把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Hartreee SCF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方法拓展到了</a:t>
            </a:r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Slater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行列式中。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20C9E9-07D6-78E1-1D0A-F18BA86490BD}"/>
              </a:ext>
            </a:extLst>
          </p:cNvPr>
          <p:cNvSpPr txBox="1"/>
          <p:nvPr/>
        </p:nvSpPr>
        <p:spPr>
          <a:xfrm>
            <a:off x="800217" y="1430282"/>
            <a:ext cx="52498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Fork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算符：</a:t>
            </a:r>
            <a:endParaRPr lang="zh-CN" altLang="en-US" sz="22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ECC83D-5389-A67C-A3D1-0E1307C9C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17" y="1861169"/>
            <a:ext cx="4714515" cy="105026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9278739-DB56-C3F4-3435-0D7941610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376" y="2185283"/>
            <a:ext cx="3838274" cy="40203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7370F70-3D74-846E-9172-4483F4CB8D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17" y="3195666"/>
            <a:ext cx="733333" cy="46666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1576BF2-B67A-AACC-4C06-45E55A06B6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035" y="2993097"/>
            <a:ext cx="4143067" cy="87180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5F1EFD8-B75A-AD22-B915-984AC5CFDF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17" y="4321632"/>
            <a:ext cx="752381" cy="61904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2099B18-5E52-8E4C-ECB2-59FC76EBA1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035" y="4270685"/>
            <a:ext cx="4709743" cy="83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383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25375-54BD-ADD5-920B-011569B5F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4E1D61E-72E3-90F8-2CCF-4D5E0C10B929}"/>
              </a:ext>
            </a:extLst>
          </p:cNvPr>
          <p:cNvSpPr txBox="1"/>
          <p:nvPr/>
        </p:nvSpPr>
        <p:spPr>
          <a:xfrm>
            <a:off x="319316" y="384628"/>
            <a:ext cx="705353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多电子波函数 </a:t>
            </a:r>
            <a:r>
              <a:rPr lang="en-US" altLang="zh-CN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 Hartree-Fork 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自洽场方法</a:t>
            </a:r>
            <a:endParaRPr lang="zh-CN" altLang="en-US" sz="25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EFC8B5-6E92-D936-B2FA-6905D8A1A17B}"/>
              </a:ext>
            </a:extLst>
          </p:cNvPr>
          <p:cNvSpPr txBox="1"/>
          <p:nvPr/>
        </p:nvSpPr>
        <p:spPr>
          <a:xfrm>
            <a:off x="2615137" y="1009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7A1D69-679F-5ACA-BED8-91E320E90777}"/>
              </a:ext>
            </a:extLst>
          </p:cNvPr>
          <p:cNvSpPr/>
          <p:nvPr/>
        </p:nvSpPr>
        <p:spPr>
          <a:xfrm>
            <a:off x="187374" y="1624773"/>
            <a:ext cx="1225685" cy="297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5C3950-AF7A-6BE5-5C2F-2DCD0D2B4E76}"/>
              </a:ext>
            </a:extLst>
          </p:cNvPr>
          <p:cNvSpPr txBox="1"/>
          <p:nvPr/>
        </p:nvSpPr>
        <p:spPr>
          <a:xfrm>
            <a:off x="800217" y="978872"/>
            <a:ext cx="310052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HF</a:t>
            </a:r>
            <a:r>
              <a:rPr lang="zh-CN" altLang="en-US" sz="2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方法下久期行列式：</a:t>
            </a:r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\</a:t>
            </a:r>
          </a:p>
          <a:p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200" b="1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其中，密度矩阵：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DD11461-BDC5-B171-54A3-74278D9F1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9" y="1409760"/>
            <a:ext cx="7746884" cy="199517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6DF6465-CA7A-5B84-2660-80E7BDC0F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841" y="4235383"/>
            <a:ext cx="3130500" cy="98063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9C57208-18A4-22A9-C3EC-13D4DC962A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022" y="5233227"/>
            <a:ext cx="6366670" cy="10150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9FB999B-F6F2-4DB2-32BB-DCC727014E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493" y="1526950"/>
            <a:ext cx="4468507" cy="16192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D572B8B-A62A-9D20-8529-90FA6BA0DF95}"/>
              </a:ext>
            </a:extLst>
          </p:cNvPr>
          <p:cNvSpPr txBox="1"/>
          <p:nvPr/>
        </p:nvSpPr>
        <p:spPr>
          <a:xfrm>
            <a:off x="800216" y="6248303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由两个基函数构成的特定的电荷分布模式</a:t>
            </a:r>
          </a:p>
        </p:txBody>
      </p:sp>
    </p:spTree>
    <p:extLst>
      <p:ext uri="{BB962C8B-B14F-4D97-AF65-F5344CB8AC3E}">
        <p14:creationId xmlns:p14="http://schemas.microsoft.com/office/powerpoint/2010/main" val="4233545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7B3F3-6592-951D-C4AB-392693B19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0905194-F7CA-D729-4A21-ACF41D440E68}"/>
              </a:ext>
            </a:extLst>
          </p:cNvPr>
          <p:cNvSpPr txBox="1"/>
          <p:nvPr/>
        </p:nvSpPr>
        <p:spPr>
          <a:xfrm>
            <a:off x="319316" y="384628"/>
            <a:ext cx="776366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r>
              <a:rPr lang="en-US" altLang="zh-CN" sz="2500" b="1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多电子波函数 </a:t>
            </a:r>
            <a:r>
              <a:rPr lang="en-US" altLang="zh-CN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 HF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方法框架与 </a:t>
            </a:r>
            <a:r>
              <a:rPr lang="en-US" altLang="zh-CN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Roothaan </a:t>
            </a:r>
            <a:r>
              <a:rPr lang="zh-CN" altLang="en-US" sz="2500" b="1">
                <a:solidFill>
                  <a:srgbClr val="191B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方法</a:t>
            </a:r>
            <a:endParaRPr lang="zh-CN" altLang="en-US" sz="25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945DF1-79CF-1059-0547-D74DA42B1FED}"/>
              </a:ext>
            </a:extLst>
          </p:cNvPr>
          <p:cNvSpPr txBox="1"/>
          <p:nvPr/>
        </p:nvSpPr>
        <p:spPr>
          <a:xfrm>
            <a:off x="2615137" y="1009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 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15D603-34D1-2D08-F136-82C1B1C8A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69" y="946150"/>
            <a:ext cx="5043812" cy="57785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1F507C9-3AB3-020B-2D8A-B8FA5B85A6A7}"/>
              </a:ext>
            </a:extLst>
          </p:cNvPr>
          <p:cNvSpPr txBox="1"/>
          <p:nvPr/>
        </p:nvSpPr>
        <p:spPr>
          <a:xfrm>
            <a:off x="6096000" y="1060217"/>
            <a:ext cx="31935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>
                <a:latin typeface="Arial" panose="020B0604020202020204" pitchFamily="34" charset="0"/>
                <a:ea typeface="微软雅黑" panose="020B0503020204020204" pitchFamily="34" charset="-122"/>
              </a:rPr>
              <a:t>HF</a:t>
            </a:r>
            <a:r>
              <a:rPr lang="zh-CN" altLang="en-US" sz="3200" b="1">
                <a:latin typeface="Arial" panose="020B0604020202020204" pitchFamily="34" charset="0"/>
                <a:ea typeface="微软雅黑" panose="020B0503020204020204" pitchFamily="34" charset="-122"/>
              </a:rPr>
              <a:t>方法的问题：</a:t>
            </a:r>
            <a:endParaRPr lang="en-US" altLang="zh-CN" sz="3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3200" b="1">
                <a:latin typeface="Arial" panose="020B0604020202020204" pitchFamily="34" charset="0"/>
                <a:ea typeface="微软雅黑" panose="020B0503020204020204" pitchFamily="34" charset="-122"/>
              </a:rPr>
              <a:t>1.</a:t>
            </a:r>
            <a:r>
              <a:rPr lang="zh-CN" altLang="en-US" sz="3200" b="1">
                <a:latin typeface="Arial" panose="020B0604020202020204" pitchFamily="34" charset="0"/>
                <a:ea typeface="微软雅黑" panose="020B0503020204020204" pitchFamily="34" charset="-122"/>
              </a:rPr>
              <a:t>单电子限制</a:t>
            </a:r>
            <a:endParaRPr lang="en-US" altLang="zh-CN" sz="32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3200" b="1">
                <a:latin typeface="Arial" panose="020B0604020202020204" pitchFamily="34" charset="0"/>
                <a:ea typeface="微软雅黑" panose="020B0503020204020204" pitchFamily="34" charset="-122"/>
              </a:rPr>
              <a:t>2.</a:t>
            </a:r>
            <a:r>
              <a:rPr lang="zh-CN" altLang="en-US" sz="3200" b="1">
                <a:latin typeface="Arial" panose="020B0604020202020204" pitchFamily="34" charset="0"/>
                <a:ea typeface="微软雅黑" panose="020B0503020204020204" pitchFamily="34" charset="-122"/>
              </a:rPr>
              <a:t>基组的选择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CEF2799-F7EB-3E8B-9837-741E35C76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838450"/>
            <a:ext cx="1914525" cy="6858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45C93BD-6DB2-8FCD-C572-7A5ACDD6A6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021" y="2679877"/>
            <a:ext cx="2213785" cy="123079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784E2CC-C0AF-E02A-F7EA-EA511DC0B0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277" y="3910675"/>
            <a:ext cx="2729723" cy="853038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B063169-700D-0591-C044-60C9563BF8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671" y="4959586"/>
            <a:ext cx="4076700" cy="740643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CA95776-6AA5-541B-196E-1332549B44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6421" y="6073775"/>
            <a:ext cx="1981200" cy="514350"/>
          </a:xfrm>
          <a:prstGeom prst="rect">
            <a:avLst/>
          </a:prstGeom>
        </p:spPr>
      </p:pic>
      <p:sp>
        <p:nvSpPr>
          <p:cNvPr id="26" name="箭头: 下 25">
            <a:extLst>
              <a:ext uri="{FF2B5EF4-FFF2-40B4-BE49-F238E27FC236}">
                <a16:creationId xmlns:a16="http://schemas.microsoft.com/office/drawing/2014/main" id="{57543ADF-D8A8-53F3-3F0C-8D7174C5701D}"/>
              </a:ext>
            </a:extLst>
          </p:cNvPr>
          <p:cNvSpPr/>
          <p:nvPr/>
        </p:nvSpPr>
        <p:spPr>
          <a:xfrm>
            <a:off x="8094121" y="3541579"/>
            <a:ext cx="685800" cy="5304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26CC7F7D-4AD2-35E8-8CB2-D7729A2D3D40}"/>
              </a:ext>
            </a:extLst>
          </p:cNvPr>
          <p:cNvSpPr/>
          <p:nvPr/>
        </p:nvSpPr>
        <p:spPr>
          <a:xfrm>
            <a:off x="8094121" y="4580703"/>
            <a:ext cx="685800" cy="5304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F946534B-3F79-4299-77E8-C527D6D1515C}"/>
              </a:ext>
            </a:extLst>
          </p:cNvPr>
          <p:cNvSpPr/>
          <p:nvPr/>
        </p:nvSpPr>
        <p:spPr>
          <a:xfrm>
            <a:off x="8094121" y="5583145"/>
            <a:ext cx="685800" cy="5304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A8AC016-24A0-06AA-77D3-40C8CF3B4903}"/>
              </a:ext>
            </a:extLst>
          </p:cNvPr>
          <p:cNvSpPr/>
          <p:nvPr/>
        </p:nvSpPr>
        <p:spPr>
          <a:xfrm>
            <a:off x="6123647" y="2629877"/>
            <a:ext cx="4459556" cy="3958248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23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1224</Words>
  <Application>Microsoft Office PowerPoint</Application>
  <PresentationFormat>宽屏</PresentationFormat>
  <Paragraphs>153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-apple-system</vt:lpstr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宇航 程</dc:creator>
  <cp:lastModifiedBy>宇航 程</cp:lastModifiedBy>
  <cp:revision>5</cp:revision>
  <dcterms:created xsi:type="dcterms:W3CDTF">2025-10-21T08:19:59Z</dcterms:created>
  <dcterms:modified xsi:type="dcterms:W3CDTF">2025-10-25T07:25:03Z</dcterms:modified>
</cp:coreProperties>
</file>