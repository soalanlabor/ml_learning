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70" r:id="rId13"/>
    <p:sldId id="271" r:id="rId14"/>
    <p:sldId id="273" r:id="rId15"/>
    <p:sldId id="272" r:id="rId16"/>
    <p:sldId id="274" r:id="rId17"/>
    <p:sldId id="27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32F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99" autoAdjust="0"/>
  </p:normalViewPr>
  <p:slideViewPr>
    <p:cSldViewPr snapToGrid="0">
      <p:cViewPr varScale="1">
        <p:scale>
          <a:sx n="69" d="100"/>
          <a:sy n="69" d="100"/>
        </p:scale>
        <p:origin x="5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2EBA78-B027-4E24-BF45-288AF5C2EE4D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CA520-AB8C-42B7-B46C-DD9F76C1931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8196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8950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FBB16-F018-963F-8E8A-3F7DFA785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0C4879-4595-26B6-7EA9-8E14C1281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F8A46F-5D52-4B8A-5CB1-8FFB61ADE2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A196A4-F816-A946-FCDC-2C370BBACE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63659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C2172-07AC-E620-FC71-CF51F65EB9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D21711F-EB5C-B158-769F-CF1B9C55EF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3B91BB-AB22-217C-EFB0-5B43F0A143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A1A3D1-FC56-6F3A-2C2D-E75020939B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6330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B1E3E-974D-DAFC-5BDA-98C3126AB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DB0B2EB-5AEF-E3DC-44BA-B0D841F014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0461B85-5364-77B6-5FE7-1BC993540F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8CE6F7C-D80E-BF3C-33B8-AB644A84D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2421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A0583-D4EE-E838-E5C3-48B2E90D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D17D0F-C5EA-6684-C59E-AE9B76FA58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5F92B-B6D5-F84F-8860-12CAC55DC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E9BDBA-44FD-575D-94BE-A29F526177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3433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817BE-48A5-9789-EB4E-72D99A914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7A9661-17D2-9AC4-3B8E-49162A905B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DE05A18-0111-7E64-D721-002EC20432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5D35E43-5416-501C-89DF-307A0FEB37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2738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2B5453-DB12-9530-A5C9-F29E46734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D1A06D8-1B65-861A-50B1-B76FBACE13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F7E34D-B625-195D-5F16-A8D5B7108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106E59-1317-2BFF-B3E6-7E0042E511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17969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E5866-42E0-0530-9D98-B928BBCA0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59A0D3-762A-578C-B211-FF3EC8263F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3D3AE52-3E67-D42D-77AF-4D6764F921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FA7BFB-9A0B-4FA3-687C-71115D4F6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768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555F9-9890-D81C-7E57-4314DEF38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A4FEEBF-7DF3-5706-BC8F-280255A0E2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ABFAB3-6D3A-BB36-B90C-3D215B5634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967F4FE-BDDE-7169-17E1-32D9FDD04C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4223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8DCEEE-FFF3-F034-6506-BBABA8BDF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30439B-573C-10D4-FD01-B19F1C9FB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5AB9B03-DFB8-AABD-DBCF-4C124DD2FE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BE421D-BEE8-2C21-AC42-C4B381172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851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F21ED-A1E1-467C-8370-8D63EE339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E31AE3F-356F-FBD0-05BD-33F5C280B2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75CB70C-DC61-C6CF-E9C5-BBA81B881D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31A284-C3C1-CEE5-83F3-06582F886C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12256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938E6-FF3D-7B0F-69B0-6A5A211BB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7B2219B-0FD2-8788-A5F7-CC4869B6BE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76F2143-558C-B5BF-1414-C43F9DAEF7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4B4BC5-0AAE-EA5C-21F0-EC5D2C1B04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94294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AB9D9E-274C-0283-6FC6-2A4AA6681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0528161-048C-863F-977D-FC01A88E66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1DFB708-B0F6-5634-C1D1-8A39199208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DF38863-7518-CAE9-5968-E1E9A6DC64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99600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5B47A2-4E9A-6227-5977-BD3C7B136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04CF013-1E0F-86FC-29C9-EB8026BAA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FDDB8C1-288D-A96B-CA8E-60DB9E79C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FBD8C2C-D2EC-408A-DC2A-0B70173DFE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2483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73BF8-E1A5-09A5-E823-4620F3CAC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2EE853-3D21-8911-9495-BF0E1ED54E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64BB6E-A235-547C-7D14-7FA512658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925CC61-3633-2206-8B2B-33C972E0A1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1810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295B9-7F98-5B57-D84C-A296967C8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E951592-7840-F8DB-AE9A-D7E783868B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C1342CF-F7A2-0607-5205-0530789789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9AEE6A-7950-C503-3F97-953796E66B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CA520-AB8C-42B7-B46C-DD9F76C1931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0291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62C28-5750-6B7E-028D-AD1963B44B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BC97ECB-E01E-D85E-3648-84C49F14A3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FD51182-02E5-B8A2-DD10-A86275A6F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3E589-A776-4CAD-8A3A-9366533A24F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BBE800-186A-8625-4598-FBE407C9D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C66BDB-E7C2-869F-701F-3B9C156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2482D-E533-49B2-AADA-AD4559A1AC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6795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416772-93CF-1C6D-59EB-91B5C3404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E53FF3-9AA8-0C4A-FA24-E02E58CA14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0BFE84-6BD5-5288-11F6-ADEB8C0E0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3E589-A776-4CAD-8A3A-9366533A24F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F207E2-4949-43C1-6760-3CDB38A2B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2B1A8E-7FE7-399E-86D5-71ABE5794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2482D-E533-49B2-AADA-AD4559A1AC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829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E141FF-E1DB-3967-5A23-17A102F973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2C292E-7FA3-2017-1CC9-772F3241B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C17FE0-C89E-437C-BB7D-FDDC37001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3E589-A776-4CAD-8A3A-9366533A24F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48AAA7-0A02-5A3C-02FE-2DBBE290B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71A6D4-4EF8-DEE6-4985-E086350C8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2482D-E533-49B2-AADA-AD4559A1AC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776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C8440D-1720-23C4-95FF-4664FC29A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C97ADB-E218-3BD5-82EA-EE3DDC249A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E81E8C-E1F1-C3EB-BF9F-2DAF819E0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F531466-4012-B764-A6CB-2C49A7DA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3E589-A776-4CAD-8A3A-9366533A24F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1F3CD84-EE5E-C5AF-289F-7E2E62095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B95E5F-66CE-E3CA-A675-BF9DA369A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2482D-E533-49B2-AADA-AD4559A1AC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618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76F365-D4B7-3D72-F5C2-ACEBF5486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76B73D5-43BA-259C-5A3C-43B456327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E0594C3-6EBB-E096-601D-1DF9389FC9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5A288F-22F1-2DEE-6A50-23A4E9BED0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686B2C2-BA5F-DDC9-BF3E-F0AF3164C8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DC8A18C-6F9E-9ED1-B49F-4AD86E134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3E589-A776-4CAD-8A3A-9366533A24F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B5D0A83-87FC-2269-88FF-39E2B3C3D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24515DD-7AC7-D60C-047E-640409379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2482D-E533-49B2-AADA-AD4559A1AC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6370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3EC327-EADF-D0B0-C014-E91AF8FB1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2B9EFC8-5AE5-935F-E7DA-154448D3B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3E589-A776-4CAD-8A3A-9366533A24F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22D781-2865-3048-9FE7-BB11CE8B7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4046CDD-0310-4EBC-DB5D-7DCD98F48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2482D-E533-49B2-AADA-AD4559A1AC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770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B52FD51-744D-4B0E-2048-7F3DD102A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3E589-A776-4CAD-8A3A-9366533A24F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85784E-36BD-10C2-E8A8-0401F8A5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658ECDE-FBC1-6042-2239-37A737A50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2482D-E533-49B2-AADA-AD4559A1AC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506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2FB24C-01F9-2EF6-4FD5-D88918F8F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55D7EA-0F6A-F81C-C204-CAF951867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D845A8-BA3E-3C32-6FCF-8D5FF04EF3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9FD79DA-8894-8663-0726-CEE477F4C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3E589-A776-4CAD-8A3A-9366533A24F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EA7E979-0493-6AFA-D418-99905C6E6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F41D34-CD61-8ADF-AC0C-DB10CF2DC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2482D-E533-49B2-AADA-AD4559A1AC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609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D85A6B-B26A-5842-0D11-5D6045F3E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3DC77FA-DE57-E711-60A9-8B03338A9A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5C957D5-930D-627A-74AA-3D96DE273A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9F324A0-2DA6-64EF-B6C9-0BE551E2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3E589-A776-4CAD-8A3A-9366533A24F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32ACB32-0CED-AA03-E6C9-776377965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9E7CE0D-6826-F302-2D22-72D759D10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2482D-E533-49B2-AADA-AD4559A1AC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903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829D13-0E67-3FE4-168A-12470CD32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1A9209-3727-540D-6317-E0233AFA18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A9DAFE-1A22-9BB1-CD12-B4C55F75A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3E589-A776-4CAD-8A3A-9366533A24F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6971E0A-5863-782C-90F8-697479DF0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ACF9F00-848A-5875-A44C-89D3DEB28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2482D-E533-49B2-AADA-AD4559A1AC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4064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57C8F91-5F18-11E0-A3A8-E7CFF39DDC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AF50F1-FAA4-E189-F406-760E630FB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7956DC6-A37D-A128-C486-87E006FF3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3E589-A776-4CAD-8A3A-9366533A24F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377E4A-44A3-AB35-3BA8-940C1DF408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FD5E74-3117-0CE3-4580-BA4CC4BA8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2482D-E533-49B2-AADA-AD4559A1AC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752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7BE747-2398-93FF-296A-B4DE3E282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6EA048-B8CC-1A55-657A-523763793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861419-3B1D-324B-2090-12A34F5EFF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3E589-A776-4CAD-8A3A-9366533A24FE}" type="datetimeFigureOut">
              <a:rPr lang="zh-CN" altLang="en-US" smtClean="0"/>
              <a:t>2025/6/21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09D228-5001-B282-6FB2-009069A2FA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C2B179-B116-831E-D645-5A12F3B389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2482D-E533-49B2-AADA-AD4559A1AC8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3935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2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2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0.png"/><Relationship Id="rId4" Type="http://schemas.openxmlformats.org/officeDocument/2006/relationships/image" Target="../media/image2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34A02309-1EDC-6AFB-07EE-9D9CF1F96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7541647-89FD-F7D6-71B6-8A96F9F1C9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52E33E1-2A62-464B-7B3D-F8AE5ADC7BDF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E071E5-CD85-259C-6142-6BD27133FCF4}"/>
              </a:ext>
            </a:extLst>
          </p:cNvPr>
          <p:cNvSpPr txBox="1"/>
          <p:nvPr/>
        </p:nvSpPr>
        <p:spPr>
          <a:xfrm>
            <a:off x="4464784" y="1871020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  <a:endParaRPr lang="en-US" altLang="zh-CN" sz="60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C7568CE-6B03-6CCE-F3C1-86976F046824}"/>
              </a:ext>
            </a:extLst>
          </p:cNvPr>
          <p:cNvSpPr txBox="1"/>
          <p:nvPr/>
        </p:nvSpPr>
        <p:spPr>
          <a:xfrm>
            <a:off x="3288697" y="339832"/>
            <a:ext cx="87527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000" b="1">
                <a:latin typeface="微软雅黑" panose="020B0503020204020204" pitchFamily="34" charset="-122"/>
                <a:ea typeface="微软雅黑" panose="020B0503020204020204" pitchFamily="34" charset="-122"/>
              </a:rPr>
              <a:t>教育部人工智能综合能力提升</a:t>
            </a:r>
            <a:r>
              <a:rPr lang="en-US" altLang="zh-CN" sz="3000" b="1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3000" b="1">
                <a:latin typeface="微软雅黑" panose="020B0503020204020204" pitchFamily="34" charset="-122"/>
                <a:ea typeface="微软雅黑" panose="020B0503020204020204" pitchFamily="34" charset="-122"/>
              </a:rPr>
              <a:t>浙江大学</a:t>
            </a:r>
            <a:r>
              <a:rPr lang="en-US" altLang="zh-CN" sz="3000" b="1"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MOOC</a:t>
            </a:r>
            <a:endParaRPr lang="zh-CN" altLang="en-US" sz="3000" b="1">
              <a:latin typeface="Arial" panose="020B0604020202020204" pitchFamily="34" charset="0"/>
              <a:ea typeface="Arial Unicode MS" panose="020B0604020202020204" pitchFamily="34" charset="-122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34B918-9805-B8FB-59D3-756669CCC89A}"/>
              </a:ext>
            </a:extLst>
          </p:cNvPr>
          <p:cNvSpPr txBox="1"/>
          <p:nvPr/>
        </p:nvSpPr>
        <p:spPr>
          <a:xfrm>
            <a:off x="4128208" y="3305662"/>
            <a:ext cx="39885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引言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A8C9BF0-E5D7-54B1-07D7-BABB51861F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984" y="4373938"/>
            <a:ext cx="5994032" cy="2376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20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A7FD8-E1E6-2035-F48E-123EA3368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C4188C7-564E-4B34-87C9-A822A5D2D0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378A5255-5E67-CBA4-C9B0-1820A1594C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0E8EF10-4A2E-0FDC-9FC3-A568EF7C4E9F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8C424CA-3C18-32AE-1713-E6EF97294D63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机器学习定义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E822DE3-421F-B725-3629-15D07CB2DBD7}"/>
              </a:ext>
            </a:extLst>
          </p:cNvPr>
          <p:cNvSpPr/>
          <p:nvPr/>
        </p:nvSpPr>
        <p:spPr>
          <a:xfrm>
            <a:off x="604299" y="1598803"/>
            <a:ext cx="1749287" cy="1558455"/>
          </a:xfrm>
          <a:prstGeom prst="rect">
            <a:avLst/>
          </a:prstGeom>
          <a:solidFill>
            <a:srgbClr val="932FA1"/>
          </a:solidFill>
          <a:ln w="38100">
            <a:solidFill>
              <a:srgbClr val="932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显著式编程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493587A-6EE4-718B-35CC-3D813C5018E9}"/>
              </a:ext>
            </a:extLst>
          </p:cNvPr>
          <p:cNvSpPr/>
          <p:nvPr/>
        </p:nvSpPr>
        <p:spPr>
          <a:xfrm>
            <a:off x="2353586" y="1598803"/>
            <a:ext cx="9255318" cy="1558455"/>
          </a:xfrm>
          <a:prstGeom prst="rect">
            <a:avLst/>
          </a:prstGeom>
          <a:noFill/>
          <a:ln w="38100">
            <a:solidFill>
              <a:srgbClr val="932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B98746-5174-DF29-C032-B19CEBC4D4F4}"/>
              </a:ext>
            </a:extLst>
          </p:cNvPr>
          <p:cNvSpPr txBox="1"/>
          <p:nvPr/>
        </p:nvSpPr>
        <p:spPr>
          <a:xfrm>
            <a:off x="2456952" y="1685532"/>
            <a:ext cx="92553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显著式编程是一种编程方法，其中程序员明确地告诉计算机如何执行特定任务。这种方法依赖于人为定义的规则和步骤，以确保计算机能够正确地完成任务。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BE19BF5-F1D9-683B-32B9-05CFA9B57F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7777" y="4351963"/>
            <a:ext cx="7769453" cy="250603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2B21FD29-3944-2CA7-3ED2-5D853A50132C}"/>
              </a:ext>
            </a:extLst>
          </p:cNvPr>
          <p:cNvSpPr txBox="1"/>
          <p:nvPr/>
        </p:nvSpPr>
        <p:spPr>
          <a:xfrm>
            <a:off x="583096" y="3187309"/>
            <a:ext cx="11399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例如，人为定义菊花是黄色，玫瑰是红色。机器就会认为黄色的是菊花，红色的是玫瑰。</a:t>
            </a:r>
          </a:p>
        </p:txBody>
      </p:sp>
    </p:spTree>
    <p:extLst>
      <p:ext uri="{BB962C8B-B14F-4D97-AF65-F5344CB8AC3E}">
        <p14:creationId xmlns:p14="http://schemas.microsoft.com/office/powerpoint/2010/main" val="33982819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4A4F79-73D2-53B5-2A92-9A1292531D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918C64C9-D35D-71F5-D816-A66F1C1832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84FC49D-79D8-F527-E7B9-EB59D098BAF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3FB29F4-FA3F-035E-2BBE-E933823E97CE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801D1A4-D203-846D-2E6D-33118936A89C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机器学习定义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C5CF69-946E-58C9-8E90-51C0A4C7799B}"/>
              </a:ext>
            </a:extLst>
          </p:cNvPr>
          <p:cNvSpPr/>
          <p:nvPr/>
        </p:nvSpPr>
        <p:spPr>
          <a:xfrm>
            <a:off x="604299" y="1598803"/>
            <a:ext cx="1749287" cy="1558455"/>
          </a:xfrm>
          <a:prstGeom prst="rect">
            <a:avLst/>
          </a:prstGeom>
          <a:solidFill>
            <a:srgbClr val="932FA1"/>
          </a:solidFill>
          <a:ln w="38100">
            <a:solidFill>
              <a:srgbClr val="932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非显著式编程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76B2FE-0499-8C6F-ABE7-6E0452AC0BF7}"/>
              </a:ext>
            </a:extLst>
          </p:cNvPr>
          <p:cNvSpPr/>
          <p:nvPr/>
        </p:nvSpPr>
        <p:spPr>
          <a:xfrm>
            <a:off x="2353586" y="1598803"/>
            <a:ext cx="9255318" cy="1558455"/>
          </a:xfrm>
          <a:prstGeom prst="rect">
            <a:avLst/>
          </a:prstGeom>
          <a:noFill/>
          <a:ln w="38100">
            <a:solidFill>
              <a:srgbClr val="932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A5E77A2-181A-E688-6825-144BD61C7D43}"/>
              </a:ext>
            </a:extLst>
          </p:cNvPr>
          <p:cNvSpPr txBox="1"/>
          <p:nvPr/>
        </p:nvSpPr>
        <p:spPr>
          <a:xfrm>
            <a:off x="2456952" y="1685532"/>
            <a:ext cx="92553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非显著式编程是一种编程方法，程序员不需要明确地告诉计算机每一个具体的规则，而是通过提供大量的数据，让计算机自己总结出规律。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8613DCE-4940-3A1F-5559-4FA6441B4554}"/>
              </a:ext>
            </a:extLst>
          </p:cNvPr>
          <p:cNvSpPr txBox="1"/>
          <p:nvPr/>
        </p:nvSpPr>
        <p:spPr>
          <a:xfrm>
            <a:off x="583096" y="3187309"/>
            <a:ext cx="11399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例如，通过编程，给予大量的菊花与玫瑰花图片给程序，让程序自己了解它们的规律特征，获得识别规律。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6C1F888-49A5-6BA3-113A-3D90E3C1A7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6" y="4417689"/>
            <a:ext cx="6329238" cy="2041496"/>
          </a:xfrm>
          <a:prstGeom prst="rect">
            <a:avLst/>
          </a:pr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82C7158C-BF61-36EF-76DB-477A3F99B3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54777" y="4632705"/>
            <a:ext cx="1611464" cy="1611464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C3839296-9947-671E-F71D-5B270B7D49D3}"/>
              </a:ext>
            </a:extLst>
          </p:cNvPr>
          <p:cNvCxnSpPr>
            <a:stCxn id="2" idx="3"/>
            <a:endCxn id="6" idx="1"/>
          </p:cNvCxnSpPr>
          <p:nvPr/>
        </p:nvCxnSpPr>
        <p:spPr>
          <a:xfrm>
            <a:off x="6912334" y="5438437"/>
            <a:ext cx="1142443" cy="0"/>
          </a:xfrm>
          <a:prstGeom prst="straightConnector1">
            <a:avLst/>
          </a:prstGeom>
          <a:ln w="76200">
            <a:solidFill>
              <a:srgbClr val="932F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1862CE44-2FED-2DC4-C771-33987A9BB7A4}"/>
              </a:ext>
            </a:extLst>
          </p:cNvPr>
          <p:cNvSpPr txBox="1"/>
          <p:nvPr/>
        </p:nvSpPr>
        <p:spPr>
          <a:xfrm>
            <a:off x="10808685" y="4653607"/>
            <a:ext cx="80021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花瓣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颜色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根茎</a:t>
            </a:r>
            <a:endParaRPr lang="en-US" altLang="zh-CN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7D9517D-0562-D2D6-EB49-C3D96D838EC1}"/>
              </a:ext>
            </a:extLst>
          </p:cNvPr>
          <p:cNvCxnSpPr>
            <a:cxnSpLocks/>
            <a:stCxn id="6" idx="3"/>
            <a:endCxn id="16" idx="1"/>
          </p:cNvCxnSpPr>
          <p:nvPr/>
        </p:nvCxnSpPr>
        <p:spPr>
          <a:xfrm>
            <a:off x="9666241" y="5438437"/>
            <a:ext cx="1142444" cy="0"/>
          </a:xfrm>
          <a:prstGeom prst="straightConnector1">
            <a:avLst/>
          </a:prstGeom>
          <a:ln w="76200">
            <a:solidFill>
              <a:srgbClr val="932F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806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BB7E6-98FF-09F7-DF39-E387D79B2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D94E90E-15E5-8C28-C9B2-371E9B6542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FEC1564-406C-4DCC-5801-D9E10C1810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E32894A8-1E3F-C2A6-0424-73D9A773D30E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D5A82DE-EB1B-3665-26C6-23E534D678BC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机器学习定义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D9B743-1C8B-7D09-9EBC-78B9B831AFD5}"/>
              </a:ext>
            </a:extLst>
          </p:cNvPr>
          <p:cNvSpPr/>
          <p:nvPr/>
        </p:nvSpPr>
        <p:spPr>
          <a:xfrm>
            <a:off x="479731" y="1457434"/>
            <a:ext cx="1873856" cy="1558455"/>
          </a:xfrm>
          <a:prstGeom prst="rect">
            <a:avLst/>
          </a:prstGeom>
          <a:solidFill>
            <a:srgbClr val="932FA1"/>
          </a:solidFill>
          <a:ln w="38100">
            <a:solidFill>
              <a:srgbClr val="932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机器学习定义①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F9B452-B92B-C8F7-DC9F-0983991BED32}"/>
              </a:ext>
            </a:extLst>
          </p:cNvPr>
          <p:cNvSpPr/>
          <p:nvPr/>
        </p:nvSpPr>
        <p:spPr>
          <a:xfrm>
            <a:off x="2353586" y="1457434"/>
            <a:ext cx="9255318" cy="1558455"/>
          </a:xfrm>
          <a:prstGeom prst="rect">
            <a:avLst/>
          </a:prstGeom>
          <a:noFill/>
          <a:ln w="38100">
            <a:solidFill>
              <a:srgbClr val="932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1B29329-2E55-B304-E488-BF65EFD87B83}"/>
              </a:ext>
            </a:extLst>
          </p:cNvPr>
          <p:cNvSpPr txBox="1"/>
          <p:nvPr/>
        </p:nvSpPr>
        <p:spPr>
          <a:xfrm>
            <a:off x="2456952" y="1544163"/>
            <a:ext cx="925531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机器学习赋予计算机学习的能力，这种学习能力不是通过显著式编程获得的。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65F4907-105A-3989-263E-6B55E75860B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0" y="3160623"/>
            <a:ext cx="2420085" cy="3169669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978F1D0F-915E-6E10-5D0B-5CDE2492A256}"/>
              </a:ext>
            </a:extLst>
          </p:cNvPr>
          <p:cNvSpPr txBox="1"/>
          <p:nvPr/>
        </p:nvSpPr>
        <p:spPr>
          <a:xfrm>
            <a:off x="-63610" y="6370062"/>
            <a:ext cx="45481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>
                <a:solidFill>
                  <a:srgbClr val="B4B4B4"/>
                </a:solidFill>
                <a:effectLst/>
                <a:latin typeface="-apple-system"/>
              </a:rPr>
              <a:t> </a:t>
            </a:r>
            <a:r>
              <a:rPr lang="zh-CN" altLang="en-US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阿瑟</a:t>
            </a:r>
            <a:r>
              <a:rPr lang="en-US" altLang="zh-CN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·</a:t>
            </a:r>
            <a:r>
              <a:rPr lang="zh-CN" altLang="en-US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萨缪尔</a:t>
            </a:r>
            <a:r>
              <a:rPr lang="en-US" altLang="zh-CN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="1" i="0">
                <a:effectLst/>
                <a:latin typeface="Arial" panose="020B0604020202020204" pitchFamily="34" charset="0"/>
                <a:ea typeface="Arial Unicode MS" panose="020B0604020202020204" pitchFamily="34" charset="-122"/>
                <a:cs typeface="Arial" panose="020B0604020202020204" pitchFamily="34" charset="0"/>
              </a:rPr>
              <a:t>Arthur Samuel, 1901-1990</a:t>
            </a:r>
            <a:r>
              <a:rPr lang="en-US" altLang="zh-CN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DAE61FAC-280E-EBB2-53CA-1EED6594D8FC}"/>
              </a:ext>
            </a:extLst>
          </p:cNvPr>
          <p:cNvSpPr txBox="1"/>
          <p:nvPr/>
        </p:nvSpPr>
        <p:spPr>
          <a:xfrm>
            <a:off x="3616352" y="3393507"/>
            <a:ext cx="820044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b="1">
                <a:latin typeface="Arial Unicode MS" panose="020B0604020202020204" pitchFamily="34" charset="-122"/>
                <a:ea typeface="微软雅黑" panose="020B0503020204020204" pitchFamily="34" charset="-122"/>
              </a:rPr>
              <a:t>阿瑟</a:t>
            </a:r>
            <a:r>
              <a:rPr lang="en-US" altLang="zh-CN" sz="3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·</a:t>
            </a:r>
            <a:r>
              <a:rPr lang="zh-CN" altLang="en-US" sz="3200" b="1">
                <a:latin typeface="Arial Unicode MS" panose="020B0604020202020204" pitchFamily="34" charset="-122"/>
                <a:ea typeface="微软雅黑" panose="020B0503020204020204" pitchFamily="34" charset="-122"/>
              </a:rPr>
              <a:t>萨缪尔是人工智能研究的先驱。</a:t>
            </a:r>
            <a:r>
              <a:rPr lang="zh-CN" altLang="en-US" sz="32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1956</a:t>
            </a:r>
            <a:r>
              <a:rPr lang="zh-CN" altLang="en-US" sz="3200" b="1">
                <a:latin typeface="Arial Unicode MS" panose="020B0604020202020204" pitchFamily="34" charset="-122"/>
                <a:ea typeface="微软雅黑" panose="020B0503020204020204" pitchFamily="34" charset="-122"/>
              </a:rPr>
              <a:t>年，萨缪尔在达特茅斯会议上介绍这项工作。萨缪尔发明了“机器学习”这个词，将其定义为“</a:t>
            </a:r>
            <a:r>
              <a:rPr lang="zh-CN" altLang="en-US" sz="3200" b="1">
                <a:solidFill>
                  <a:srgbClr val="FF0000"/>
                </a:solidFill>
                <a:latin typeface="Arial Unicode MS" panose="020B0604020202020204" pitchFamily="34" charset="-122"/>
                <a:ea typeface="微软雅黑" panose="020B0503020204020204" pitchFamily="34" charset="-122"/>
              </a:rPr>
              <a:t>在不直接针对问题进行明确编程的情况下，赋予计算机学习能力的研究领域</a:t>
            </a:r>
            <a:r>
              <a:rPr lang="zh-CN" altLang="en-US" sz="3200" b="1">
                <a:latin typeface="Arial Unicode MS" panose="020B0604020202020204" pitchFamily="34" charset="-122"/>
                <a:ea typeface="微软雅黑" panose="020B0503020204020204" pitchFamily="34" charset="-122"/>
              </a:rPr>
              <a:t>”。</a:t>
            </a:r>
          </a:p>
        </p:txBody>
      </p:sp>
    </p:spTree>
    <p:extLst>
      <p:ext uri="{BB962C8B-B14F-4D97-AF65-F5344CB8AC3E}">
        <p14:creationId xmlns:p14="http://schemas.microsoft.com/office/powerpoint/2010/main" val="1042112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B59EF-4507-DAC4-E5C5-705B2EA20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DF8BDEF-478B-5801-2B2E-4A29AC86A5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7CF0FA9-0F83-9104-7436-A1E84E9014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6C61B0F-D919-ABE2-2588-5A4A3DE3C911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DDCBB8F-56D6-D89E-A203-E47ED4CEB4F5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机器学习定义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AAEA25C-B558-5EE2-130A-EF88A45E4BC9}"/>
              </a:ext>
            </a:extLst>
          </p:cNvPr>
          <p:cNvSpPr/>
          <p:nvPr/>
        </p:nvSpPr>
        <p:spPr>
          <a:xfrm>
            <a:off x="479731" y="1457434"/>
            <a:ext cx="1873856" cy="1558455"/>
          </a:xfrm>
          <a:prstGeom prst="rect">
            <a:avLst/>
          </a:prstGeom>
          <a:solidFill>
            <a:srgbClr val="932FA1"/>
          </a:solidFill>
          <a:ln w="38100">
            <a:solidFill>
              <a:srgbClr val="932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机器学习定义②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2F8B4F-1143-7E93-B3C6-5A4404474C9F}"/>
              </a:ext>
            </a:extLst>
          </p:cNvPr>
          <p:cNvSpPr/>
          <p:nvPr/>
        </p:nvSpPr>
        <p:spPr>
          <a:xfrm>
            <a:off x="2353586" y="1457434"/>
            <a:ext cx="9255318" cy="1558455"/>
          </a:xfrm>
          <a:prstGeom prst="rect">
            <a:avLst/>
          </a:prstGeom>
          <a:noFill/>
          <a:ln w="38100">
            <a:solidFill>
              <a:srgbClr val="932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1B3DFED-71A4-4554-A47A-5F78FD6B91E3}"/>
              </a:ext>
            </a:extLst>
          </p:cNvPr>
          <p:cNvSpPr txBox="1"/>
          <p:nvPr/>
        </p:nvSpPr>
        <p:spPr>
          <a:xfrm>
            <a:off x="2393343" y="1540798"/>
            <a:ext cx="9255318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700" b="1">
                <a:latin typeface="微软雅黑" panose="020B0503020204020204" pitchFamily="34" charset="-122"/>
                <a:ea typeface="微软雅黑" panose="020B0503020204020204" pitchFamily="34" charset="-122"/>
              </a:rPr>
              <a:t>一个计算机程序被成为可以学习，是指它能够针对某个任务</a:t>
            </a:r>
            <a:r>
              <a:rPr lang="en-US" altLang="zh-CN" sz="27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zh-CN" altLang="en-US" sz="2700" b="1">
                <a:latin typeface="微软雅黑" panose="020B0503020204020204" pitchFamily="34" charset="-122"/>
                <a:ea typeface="微软雅黑" panose="020B0503020204020204" pitchFamily="34" charset="-122"/>
              </a:rPr>
              <a:t>和某个性能指标</a:t>
            </a:r>
            <a:r>
              <a:rPr lang="en-US" altLang="zh-CN" sz="27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zh-CN" altLang="en-US" sz="2700" b="1">
                <a:latin typeface="微软雅黑" panose="020B0503020204020204" pitchFamily="34" charset="-122"/>
                <a:ea typeface="微软雅黑" panose="020B0503020204020204" pitchFamily="34" charset="-122"/>
              </a:rPr>
              <a:t>，从经验</a:t>
            </a:r>
            <a:r>
              <a:rPr lang="en-US" altLang="zh-CN" sz="27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E</a:t>
            </a:r>
            <a:r>
              <a:rPr lang="zh-CN" altLang="en-US" sz="2700" b="1">
                <a:latin typeface="微软雅黑" panose="020B0503020204020204" pitchFamily="34" charset="-122"/>
                <a:ea typeface="微软雅黑" panose="020B0503020204020204" pitchFamily="34" charset="-122"/>
              </a:rPr>
              <a:t>中学习。这种学习的特点是，它在</a:t>
            </a:r>
            <a:r>
              <a:rPr lang="en-US" altLang="zh-CN" sz="27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T</a:t>
            </a:r>
            <a:r>
              <a:rPr lang="zh-CN" altLang="en-US" sz="2700" b="1">
                <a:latin typeface="微软雅黑" panose="020B0503020204020204" pitchFamily="34" charset="-122"/>
                <a:ea typeface="微软雅黑" panose="020B0503020204020204" pitchFamily="34" charset="-122"/>
              </a:rPr>
              <a:t>上的被</a:t>
            </a:r>
            <a:r>
              <a:rPr lang="en-US" altLang="zh-CN" sz="2700" b="1"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P</a:t>
            </a:r>
            <a:r>
              <a:rPr lang="zh-CN" altLang="en-US" sz="2700" b="1">
                <a:latin typeface="微软雅黑" panose="020B0503020204020204" pitchFamily="34" charset="-122"/>
                <a:ea typeface="微软雅黑" panose="020B0503020204020204" pitchFamily="34" charset="-122"/>
              </a:rPr>
              <a:t>所衡量的性能，会随着经验</a:t>
            </a:r>
            <a:r>
              <a:rPr lang="en-US" altLang="zh-CN" sz="2700" b="1">
                <a:latin typeface="微软雅黑" panose="020B0503020204020204" pitchFamily="34" charset="-122"/>
                <a:ea typeface="微软雅黑" panose="020B0503020204020204" pitchFamily="34" charset="-122"/>
              </a:rPr>
              <a:t>E</a:t>
            </a:r>
            <a:r>
              <a:rPr lang="zh-CN" altLang="en-US" sz="2700" b="1">
                <a:latin typeface="微软雅黑" panose="020B0503020204020204" pitchFamily="34" charset="-122"/>
                <a:ea typeface="微软雅黑" panose="020B0503020204020204" pitchFamily="34" charset="-122"/>
              </a:rPr>
              <a:t>的增加而提高。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9C57C62-F99D-3138-3DFA-6B483EF1EFB8}"/>
              </a:ext>
            </a:extLst>
          </p:cNvPr>
          <p:cNvSpPr txBox="1"/>
          <p:nvPr/>
        </p:nvSpPr>
        <p:spPr>
          <a:xfrm>
            <a:off x="360354" y="6277267"/>
            <a:ext cx="33793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>
                <a:solidFill>
                  <a:srgbClr val="B4B4B4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 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汤姆</a:t>
            </a:r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·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米切尔</a:t>
            </a: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</a:rPr>
              <a:t>(Tom M. Mitchell)</a:t>
            </a:r>
            <a:endParaRPr lang="zh-CN" altLang="en-US" b="1"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1148419-9DDB-0282-37EE-60F7B1A163AB}"/>
              </a:ext>
            </a:extLst>
          </p:cNvPr>
          <p:cNvSpPr txBox="1"/>
          <p:nvPr/>
        </p:nvSpPr>
        <p:spPr>
          <a:xfrm>
            <a:off x="3616352" y="3445089"/>
            <a:ext cx="8200447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800" b="1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人工智能就是试图让计算机去做使人更智能的事情。例如，用计算机视觉、嗅觉和听觉感知世界就是智能的一部分，当然还有下棋中的推理。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3BE160B-C3C0-FCD8-46DC-E55A3D996C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712" y="3429000"/>
            <a:ext cx="2808588" cy="2759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206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60591-EF9F-5764-00D9-A6A86360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E16E914-AD8A-4B62-9553-A35E460578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E83FF101-4C93-F321-1216-EEC5EEA8F7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25C0B53-83FB-0FA7-4221-469D908BCA72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6D5F468-F972-A687-10BB-B48B946AA8E2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机器学习定义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A4759F5-8E36-C156-563B-53D7EDCB6D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999962"/>
            <a:ext cx="6166918" cy="389174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D365781-CE4F-64EB-30A6-24FA272C75D8}"/>
              </a:ext>
            </a:extLst>
          </p:cNvPr>
          <p:cNvSpPr txBox="1"/>
          <p:nvPr/>
        </p:nvSpPr>
        <p:spPr>
          <a:xfrm>
            <a:off x="1970067" y="5965689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>
                <a:solidFill>
                  <a:srgbClr val="932F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智能驾驶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2184523-64E4-CAC6-0AA8-AB3F9FA0E33F}"/>
              </a:ext>
            </a:extLst>
          </p:cNvPr>
          <p:cNvSpPr txBox="1"/>
          <p:nvPr/>
        </p:nvSpPr>
        <p:spPr>
          <a:xfrm>
            <a:off x="6376965" y="2333950"/>
            <a:ext cx="5707012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任务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：在复杂天气下，完成驾驶任务</a:t>
            </a:r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经验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：多次模拟驾驶训练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真实驾驶数据</a:t>
            </a:r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不同地形或天气下的行车数据</a:t>
            </a:r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性能指标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：位置偏离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航向偏离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舒适度</a:t>
            </a:r>
          </a:p>
        </p:txBody>
      </p:sp>
    </p:spTree>
    <p:extLst>
      <p:ext uri="{BB962C8B-B14F-4D97-AF65-F5344CB8AC3E}">
        <p14:creationId xmlns:p14="http://schemas.microsoft.com/office/powerpoint/2010/main" val="22990080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E1538-A9C3-7867-55BB-003F83E90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B0C5CBD-8014-67BD-CA1A-EC35165CEC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44701B3-6B26-71CD-B819-B0715143A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5AAFF51-21F5-F210-A646-7CF35B1B6E08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7F6B0DB-E952-D913-0B67-066DA04F012A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机器学习定义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CEF7B9E-0713-B730-7626-A64B265CB68D}"/>
              </a:ext>
            </a:extLst>
          </p:cNvPr>
          <p:cNvSpPr txBox="1"/>
          <p:nvPr/>
        </p:nvSpPr>
        <p:spPr>
          <a:xfrm>
            <a:off x="1677359" y="5983457"/>
            <a:ext cx="3877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>
                <a:solidFill>
                  <a:srgbClr val="932F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垃圾邮件识别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251D6E-4D12-5D0B-C69D-8319F176BB41}"/>
              </a:ext>
            </a:extLst>
          </p:cNvPr>
          <p:cNvSpPr txBox="1"/>
          <p:nvPr/>
        </p:nvSpPr>
        <p:spPr>
          <a:xfrm>
            <a:off x="6376966" y="2333950"/>
            <a:ext cx="55439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任务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：校园邮箱，识别出正常邮件与垃圾邮件</a:t>
            </a:r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经验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：模拟垃圾邮件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真实数据标签</a:t>
            </a:r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性能指标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：准确率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误报率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7E1C45E-8200-C9A1-3F37-3AB04E1FF5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055" y="1894250"/>
            <a:ext cx="6044902" cy="400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301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CA586-A866-A83D-A9F8-CB7069BAE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EEA6C01A-989C-D019-092D-69FB0CACB6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7E30DC3-77E7-DE2D-DA6D-67AAC8DB8B9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86B789C-8607-1319-3D2F-0FEAA1760FAB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A54AE95-DC1C-C284-97FF-AA1C7542D1E0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1.1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机器学习定义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841C448-0EDD-9677-7FC1-EAAE36C8B88E}"/>
              </a:ext>
            </a:extLst>
          </p:cNvPr>
          <p:cNvSpPr txBox="1"/>
          <p:nvPr/>
        </p:nvSpPr>
        <p:spPr>
          <a:xfrm>
            <a:off x="1677359" y="5983457"/>
            <a:ext cx="26468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>
                <a:solidFill>
                  <a:srgbClr val="932FA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人脸识别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3EDFE53-912E-5CF9-DC01-6D5CFD3EE99C}"/>
              </a:ext>
            </a:extLst>
          </p:cNvPr>
          <p:cNvSpPr txBox="1"/>
          <p:nvPr/>
        </p:nvSpPr>
        <p:spPr>
          <a:xfrm>
            <a:off x="6376966" y="2333950"/>
            <a:ext cx="581503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任务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T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：公司签到时，识别出正确的已录入系统的人脸</a:t>
            </a:r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经验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E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：构建虚拟人脸模拟识别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真实人脸结构特征识别提取</a:t>
            </a:r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endParaRPr lang="en-US" altLang="zh-CN" sz="2400" b="1">
              <a:solidFill>
                <a:srgbClr val="FF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  <a:p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性能指标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P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：准确率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误报率</a:t>
            </a:r>
            <a:r>
              <a:rPr lang="en-US" altLang="zh-CN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/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脸部特征提取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B57B248-4DCC-6BBE-444E-D13FC4E78D8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97" y="1757301"/>
            <a:ext cx="5517025" cy="422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590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C6BAB-E6BE-274E-5DA3-E7965AF70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80095D89-A6BA-2D0E-4810-0FDDCB68F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D19821B-F0BB-B8AB-B566-F102DC0F02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A685D44F-8C84-A83A-0911-1C81FBBD7EBA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EB43168-0945-1B01-ADA1-A31937C8210F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机器学习分类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9381B97-A5AB-9EA9-B05F-87E37DE65761}"/>
              </a:ext>
            </a:extLst>
          </p:cNvPr>
          <p:cNvSpPr txBox="1"/>
          <p:nvPr/>
        </p:nvSpPr>
        <p:spPr>
          <a:xfrm>
            <a:off x="5209433" y="1598803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8C3B5F5D-246B-9D12-AED8-CDFBEE4A3C17}"/>
              </a:ext>
            </a:extLst>
          </p:cNvPr>
          <p:cNvSpPr/>
          <p:nvPr/>
        </p:nvSpPr>
        <p:spPr>
          <a:xfrm rot="5400000">
            <a:off x="5622897" y="-916487"/>
            <a:ext cx="946205" cy="7172080"/>
          </a:xfrm>
          <a:prstGeom prst="leftBrac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8BE5D9-27A9-AD78-ED92-C462B1192E37}"/>
              </a:ext>
            </a:extLst>
          </p:cNvPr>
          <p:cNvSpPr txBox="1"/>
          <p:nvPr/>
        </p:nvSpPr>
        <p:spPr>
          <a:xfrm>
            <a:off x="1596888" y="3155528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监督学习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5221432-2D4E-E8D0-A923-8004508E195E}"/>
              </a:ext>
            </a:extLst>
          </p:cNvPr>
          <p:cNvSpPr txBox="1"/>
          <p:nvPr/>
        </p:nvSpPr>
        <p:spPr>
          <a:xfrm>
            <a:off x="8768969" y="3130570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强化学习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E7B8BE9-964F-AFD6-7159-7EF0046817EC}"/>
              </a:ext>
            </a:extLst>
          </p:cNvPr>
          <p:cNvSpPr txBox="1"/>
          <p:nvPr/>
        </p:nvSpPr>
        <p:spPr>
          <a:xfrm>
            <a:off x="6982565" y="2993631"/>
            <a:ext cx="553998" cy="1631216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非监督学习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385B6EB-E090-1236-1F92-BE3EF6250A97}"/>
              </a:ext>
            </a:extLst>
          </p:cNvPr>
          <p:cNvSpPr txBox="1"/>
          <p:nvPr/>
        </p:nvSpPr>
        <p:spPr>
          <a:xfrm>
            <a:off x="4655435" y="2993631"/>
            <a:ext cx="553998" cy="1631216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vert="eaVert" wrap="non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半监督学习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19C8879-93D4-459D-EC9B-26325922B3C8}"/>
              </a:ext>
            </a:extLst>
          </p:cNvPr>
          <p:cNvSpPr txBox="1"/>
          <p:nvPr/>
        </p:nvSpPr>
        <p:spPr>
          <a:xfrm>
            <a:off x="4491287" y="5327264"/>
            <a:ext cx="326243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按照经验分类</a:t>
            </a:r>
          </a:p>
        </p:txBody>
      </p:sp>
    </p:spTree>
    <p:extLst>
      <p:ext uri="{BB962C8B-B14F-4D97-AF65-F5344CB8AC3E}">
        <p14:creationId xmlns:p14="http://schemas.microsoft.com/office/powerpoint/2010/main" val="3077995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0458B-7449-6186-3B60-3598A0650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1BC7568-A8AD-4C88-110A-471C87434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3FC6BDD-302D-7A3D-2FC0-64D985AB42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0085DB6-A454-7982-C6DC-8C0956A6721D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CB4B5E-0E45-1270-047F-33C080A8BA48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机器学习分类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E2F20A2-AEF0-4B53-DCBF-CE08596B3B9E}"/>
              </a:ext>
            </a:extLst>
          </p:cNvPr>
          <p:cNvSpPr/>
          <p:nvPr/>
        </p:nvSpPr>
        <p:spPr>
          <a:xfrm>
            <a:off x="604299" y="1598803"/>
            <a:ext cx="1749287" cy="1558455"/>
          </a:xfrm>
          <a:prstGeom prst="rect">
            <a:avLst/>
          </a:prstGeom>
          <a:solidFill>
            <a:srgbClr val="932FA1"/>
          </a:solidFill>
          <a:ln w="38100">
            <a:solidFill>
              <a:srgbClr val="932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>
                <a:latin typeface="微软雅黑" panose="020B0503020204020204" pitchFamily="34" charset="-122"/>
                <a:ea typeface="微软雅黑" panose="020B0503020204020204" pitchFamily="34" charset="-122"/>
              </a:rPr>
              <a:t>监督学习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CBAF03-6493-79C3-9DA6-4EC3C017C68C}"/>
              </a:ext>
            </a:extLst>
          </p:cNvPr>
          <p:cNvSpPr/>
          <p:nvPr/>
        </p:nvSpPr>
        <p:spPr>
          <a:xfrm>
            <a:off x="2353586" y="1598803"/>
            <a:ext cx="9255318" cy="1558455"/>
          </a:xfrm>
          <a:prstGeom prst="rect">
            <a:avLst/>
          </a:prstGeom>
          <a:noFill/>
          <a:ln w="38100">
            <a:solidFill>
              <a:srgbClr val="932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A860930-055D-BDDB-1152-3B8BAC183BF0}"/>
              </a:ext>
            </a:extLst>
          </p:cNvPr>
          <p:cNvSpPr txBox="1"/>
          <p:nvPr/>
        </p:nvSpPr>
        <p:spPr>
          <a:xfrm>
            <a:off x="2449000" y="1614705"/>
            <a:ext cx="925531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根据已有的数据集，知道输入和输出结果之间的关系。根据这种已知的关系，训练得到一个最优的模型。给每一个样本打上标签。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235398DA-AF6F-305B-6376-6A3AF7978A1F}"/>
              </a:ext>
            </a:extLst>
          </p:cNvPr>
          <p:cNvSpPr txBox="1"/>
          <p:nvPr/>
        </p:nvSpPr>
        <p:spPr>
          <a:xfrm>
            <a:off x="604299" y="3356632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支持向量机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22430696-297B-9728-35F8-B8C39E416435}"/>
              </a:ext>
            </a:extLst>
          </p:cNvPr>
          <p:cNvSpPr txBox="1"/>
          <p:nvPr/>
        </p:nvSpPr>
        <p:spPr>
          <a:xfrm>
            <a:off x="4625685" y="3356631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人工神经网络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83ED973-59A5-A30F-E58D-DF079AEA866E}"/>
              </a:ext>
            </a:extLst>
          </p:cNvPr>
          <p:cNvSpPr txBox="1"/>
          <p:nvPr/>
        </p:nvSpPr>
        <p:spPr>
          <a:xfrm>
            <a:off x="9057440" y="3356630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深度神经网络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625D79AA-3049-832E-DEFC-21094813AF5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83" y="4041483"/>
            <a:ext cx="3313690" cy="240362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BF14276-5AAB-CC7D-85BD-662950D833E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5823" y="4041483"/>
            <a:ext cx="3400353" cy="2551290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E5F33D3A-B88B-3D26-D17D-851CA418595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94390" y="3990218"/>
            <a:ext cx="2941861" cy="2653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266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00CCA-1914-A023-7BB8-8CFB9CE208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6B748E7D-202C-1CD6-475B-5C1EF8E980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DF99C48-76F3-FB8B-C81E-4E47DF1B19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7B3CD5E9-A2F4-27A3-93A7-5B8CF7A0467A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7E3C11E-0BF7-53E2-FBC6-ED4679003B60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机器学习分类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2DE39F-A135-4A2F-9EA5-216F210F5C86}"/>
              </a:ext>
            </a:extLst>
          </p:cNvPr>
          <p:cNvSpPr/>
          <p:nvPr/>
        </p:nvSpPr>
        <p:spPr>
          <a:xfrm>
            <a:off x="604299" y="1598803"/>
            <a:ext cx="1749287" cy="1558455"/>
          </a:xfrm>
          <a:prstGeom prst="rect">
            <a:avLst/>
          </a:prstGeom>
          <a:solidFill>
            <a:srgbClr val="932FA1"/>
          </a:solidFill>
          <a:ln w="38100">
            <a:solidFill>
              <a:srgbClr val="932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非监督学习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C45DAEA-A74F-AD10-7128-421A83DC960A}"/>
              </a:ext>
            </a:extLst>
          </p:cNvPr>
          <p:cNvSpPr/>
          <p:nvPr/>
        </p:nvSpPr>
        <p:spPr>
          <a:xfrm>
            <a:off x="2353586" y="1598803"/>
            <a:ext cx="9255318" cy="1558455"/>
          </a:xfrm>
          <a:prstGeom prst="rect">
            <a:avLst/>
          </a:prstGeom>
          <a:noFill/>
          <a:ln w="38100">
            <a:solidFill>
              <a:srgbClr val="932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965E699-F5EA-5821-04CE-121B4EB9146E}"/>
              </a:ext>
            </a:extLst>
          </p:cNvPr>
          <p:cNvSpPr txBox="1"/>
          <p:nvPr/>
        </p:nvSpPr>
        <p:spPr>
          <a:xfrm>
            <a:off x="2456951" y="1893000"/>
            <a:ext cx="9255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微软雅黑" panose="020B0503020204020204" pitchFamily="34" charset="-122"/>
                <a:ea typeface="微软雅黑" panose="020B0503020204020204" pitchFamily="34" charset="-122"/>
              </a:rPr>
              <a:t>所有训练数据都没有对应标签。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6DE71C6-653B-7CAC-0D4C-DA38AB7F2818}"/>
              </a:ext>
            </a:extLst>
          </p:cNvPr>
          <p:cNvSpPr txBox="1"/>
          <p:nvPr/>
        </p:nvSpPr>
        <p:spPr>
          <a:xfrm>
            <a:off x="976240" y="3356632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聚类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58F4833-2841-AFFD-3C37-7824E37FD4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21" y="4003704"/>
            <a:ext cx="3260035" cy="268961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DE9C3EE-31E3-62EA-6F01-5255695A6C88}"/>
              </a:ext>
            </a:extLst>
          </p:cNvPr>
          <p:cNvSpPr txBox="1"/>
          <p:nvPr/>
        </p:nvSpPr>
        <p:spPr>
          <a:xfrm>
            <a:off x="5265484" y="3356631"/>
            <a:ext cx="166103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EM</a:t>
            </a:r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算法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111FB49-7E0E-57E8-92D3-FDC7B97953EC}"/>
              </a:ext>
            </a:extLst>
          </p:cNvPr>
          <p:cNvSpPr txBox="1"/>
          <p:nvPr/>
        </p:nvSpPr>
        <p:spPr>
          <a:xfrm>
            <a:off x="9092102" y="3356631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主成分分析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CA14BED-DEC1-5240-58E3-81766C174F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9824" y="4148533"/>
            <a:ext cx="3161066" cy="239995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D6ADDAE-6B16-012B-DC5F-C97F3B3E634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796" y="4003704"/>
            <a:ext cx="3950407" cy="2624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6901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C918B-54F3-E6C4-6A85-A875E0FEA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06A7198-66CC-A892-E4A3-8A9C57AFAE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733A6A4-7427-3AAD-030B-9C2B31CAF5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830711DD-3DC6-D50A-4BB1-BD561344E816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688E1D1-BFF4-24BA-553F-9793DF957573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机器学习分类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C7A4CB-DFE1-39E5-9D66-9865018CF922}"/>
              </a:ext>
            </a:extLst>
          </p:cNvPr>
          <p:cNvSpPr/>
          <p:nvPr/>
        </p:nvSpPr>
        <p:spPr>
          <a:xfrm>
            <a:off x="604299" y="1598803"/>
            <a:ext cx="1749287" cy="1558455"/>
          </a:xfrm>
          <a:prstGeom prst="rect">
            <a:avLst/>
          </a:prstGeom>
          <a:solidFill>
            <a:srgbClr val="932FA1"/>
          </a:solidFill>
          <a:ln w="38100">
            <a:solidFill>
              <a:srgbClr val="932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>
                <a:latin typeface="微软雅黑" panose="020B0503020204020204" pitchFamily="34" charset="-122"/>
                <a:ea typeface="微软雅黑" panose="020B0503020204020204" pitchFamily="34" charset="-122"/>
              </a:rPr>
              <a:t>半监督学习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CB1DE36-0406-448E-E15D-21F536D0E1B5}"/>
              </a:ext>
            </a:extLst>
          </p:cNvPr>
          <p:cNvSpPr/>
          <p:nvPr/>
        </p:nvSpPr>
        <p:spPr>
          <a:xfrm>
            <a:off x="2353586" y="1598803"/>
            <a:ext cx="9255318" cy="1558455"/>
          </a:xfrm>
          <a:prstGeom prst="rect">
            <a:avLst/>
          </a:prstGeom>
          <a:noFill/>
          <a:ln w="38100">
            <a:solidFill>
              <a:srgbClr val="932F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8303830-08CD-C72A-5AD6-4714FEC25774}"/>
              </a:ext>
            </a:extLst>
          </p:cNvPr>
          <p:cNvSpPr txBox="1"/>
          <p:nvPr/>
        </p:nvSpPr>
        <p:spPr>
          <a:xfrm>
            <a:off x="2456951" y="1893000"/>
            <a:ext cx="92553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>
                <a:latin typeface="微软雅黑" panose="020B0503020204020204" pitchFamily="34" charset="-122"/>
                <a:ea typeface="微软雅黑" panose="020B0503020204020204" pitchFamily="34" charset="-122"/>
              </a:rPr>
              <a:t>部分训练数据都有对应标签。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428E447-EB92-45E8-2966-10647FE14BF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299" y="3495628"/>
            <a:ext cx="3510735" cy="270899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8225613-797E-EBEA-4803-4AFEBB674FD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0684" y="3489567"/>
            <a:ext cx="7148220" cy="2715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039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D3108-0CE8-D740-CC83-4569C9E26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09577E12-715E-0AE8-0BC6-8164E2716E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C90DD1E-5DE2-6023-533D-65DB3A8F0D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39A85D92-D1BC-E59E-140C-782B5919F6F8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ABD9AB-E19F-B84A-EDA9-8D797EDAEC94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1.2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机器学习分类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00EB1F2-B020-803B-8165-3968A0299F3D}"/>
              </a:ext>
            </a:extLst>
          </p:cNvPr>
          <p:cNvSpPr txBox="1"/>
          <p:nvPr/>
        </p:nvSpPr>
        <p:spPr>
          <a:xfrm>
            <a:off x="5209433" y="1598803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监督学习</a:t>
            </a:r>
          </a:p>
        </p:txBody>
      </p:sp>
      <p:sp>
        <p:nvSpPr>
          <p:cNvPr id="3" name="左大括号 2">
            <a:extLst>
              <a:ext uri="{FF2B5EF4-FFF2-40B4-BE49-F238E27FC236}">
                <a16:creationId xmlns:a16="http://schemas.microsoft.com/office/drawing/2014/main" id="{4030E5B7-D990-CCCC-C68C-6C4319B1DB56}"/>
              </a:ext>
            </a:extLst>
          </p:cNvPr>
          <p:cNvSpPr/>
          <p:nvPr/>
        </p:nvSpPr>
        <p:spPr>
          <a:xfrm rot="5400000">
            <a:off x="5622897" y="-916487"/>
            <a:ext cx="946205" cy="7172080"/>
          </a:xfrm>
          <a:prstGeom prst="leftBrac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A11CDAF-A24E-7336-0CD7-2FB0550CF9D6}"/>
              </a:ext>
            </a:extLst>
          </p:cNvPr>
          <p:cNvSpPr txBox="1"/>
          <p:nvPr/>
        </p:nvSpPr>
        <p:spPr>
          <a:xfrm>
            <a:off x="2007256" y="3155528"/>
            <a:ext cx="1005403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回归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7ECC8E4-770F-90C8-9532-0BE341484CCA}"/>
              </a:ext>
            </a:extLst>
          </p:cNvPr>
          <p:cNvSpPr txBox="1"/>
          <p:nvPr/>
        </p:nvSpPr>
        <p:spPr>
          <a:xfrm>
            <a:off x="9179341" y="3130570"/>
            <a:ext cx="1005403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分类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F3877AC-2DEA-2A96-4887-AF7A5237471A}"/>
              </a:ext>
            </a:extLst>
          </p:cNvPr>
          <p:cNvSpPr txBox="1"/>
          <p:nvPr/>
        </p:nvSpPr>
        <p:spPr>
          <a:xfrm>
            <a:off x="3465365" y="5327264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按照标签固有属性分类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BEBC1E4-97C4-68EC-889A-EE5E10729B2D}"/>
              </a:ext>
            </a:extLst>
          </p:cNvPr>
          <p:cNvSpPr txBox="1"/>
          <p:nvPr/>
        </p:nvSpPr>
        <p:spPr>
          <a:xfrm>
            <a:off x="8563785" y="388401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标签值连续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AD308E8-0653-B0EC-C91E-42FBC4707BC4}"/>
              </a:ext>
            </a:extLst>
          </p:cNvPr>
          <p:cNvSpPr txBox="1"/>
          <p:nvPr/>
        </p:nvSpPr>
        <p:spPr>
          <a:xfrm>
            <a:off x="1391706" y="3884017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标签值离散</a:t>
            </a:r>
          </a:p>
        </p:txBody>
      </p:sp>
    </p:spTree>
    <p:extLst>
      <p:ext uri="{BB962C8B-B14F-4D97-AF65-F5344CB8AC3E}">
        <p14:creationId xmlns:p14="http://schemas.microsoft.com/office/powerpoint/2010/main" val="37973301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5B1AE4-CBDA-83F9-D998-330243BC5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15061F1A-E422-3D9C-BE83-2EB633C5A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94893A6E-4276-4AE0-B9F2-229B564A51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0E39BBC-B749-F7DA-7286-DF15639FE01F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C13FE15-C277-4A62-840E-582ABEFDA36F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样本数据特征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E0EE4D9-9C86-4AB6-0C7B-75382C4AF6C9}"/>
              </a:ext>
            </a:extLst>
          </p:cNvPr>
          <p:cNvSpPr txBox="1"/>
          <p:nvPr/>
        </p:nvSpPr>
        <p:spPr>
          <a:xfrm>
            <a:off x="701599" y="1598803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特征提取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40FE369-0565-C9FF-4114-B57F6788A86C}"/>
              </a:ext>
            </a:extLst>
          </p:cNvPr>
          <p:cNvSpPr txBox="1"/>
          <p:nvPr/>
        </p:nvSpPr>
        <p:spPr>
          <a:xfrm>
            <a:off x="9664260" y="1598803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特征空间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2027D36-52D9-534E-F2A7-D68867015ADF}"/>
              </a:ext>
            </a:extLst>
          </p:cNvPr>
          <p:cNvSpPr txBox="1"/>
          <p:nvPr/>
        </p:nvSpPr>
        <p:spPr>
          <a:xfrm>
            <a:off x="5182929" y="1598802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特征选择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F7A9486-C5CA-03EB-38C6-68851B477F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2792379"/>
            <a:ext cx="3894975" cy="321888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33644F2E-37A1-4319-C4F9-58CD5C4BCB77}"/>
              </a:ext>
            </a:extLst>
          </p:cNvPr>
          <p:cNvSpPr txBox="1"/>
          <p:nvPr/>
        </p:nvSpPr>
        <p:spPr>
          <a:xfrm>
            <a:off x="5657088" y="2438436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红细胞与白细胞的识别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0CF43E4-9EB2-C56A-E20E-7D6C736244B8}"/>
              </a:ext>
            </a:extLst>
          </p:cNvPr>
          <p:cNvSpPr txBox="1"/>
          <p:nvPr/>
        </p:nvSpPr>
        <p:spPr>
          <a:xfrm>
            <a:off x="5149736" y="3286411"/>
            <a:ext cx="63289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在电镜平面图上的细胞面积、周长、圆滑度</a:t>
            </a:r>
            <a:r>
              <a:rPr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24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6C6D82-7ED1-13D9-980F-5EBC3562F9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8726" y="3736801"/>
            <a:ext cx="4428604" cy="312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2753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E59F6-0DCA-A301-D736-BE0FE752D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596AA52-CAD7-590C-5283-5901D16C61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1BB4FDB-4773-058B-359D-EEA961BEDF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F7F062D0-EAB3-7D10-0848-29C1BF1ACEBB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D4D879A-9C6E-E8A4-91AD-18E898FF6CB6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样本数据特征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A788A4-2310-A632-019F-9C8402D0273B}"/>
              </a:ext>
            </a:extLst>
          </p:cNvPr>
          <p:cNvSpPr txBox="1"/>
          <p:nvPr/>
        </p:nvSpPr>
        <p:spPr>
          <a:xfrm>
            <a:off x="701599" y="1598803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特征提取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B2E6022-3165-442A-DC4F-27DAA97517A8}"/>
              </a:ext>
            </a:extLst>
          </p:cNvPr>
          <p:cNvSpPr txBox="1"/>
          <p:nvPr/>
        </p:nvSpPr>
        <p:spPr>
          <a:xfrm>
            <a:off x="9664260" y="1598803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特征空间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82388AA-F09C-AA83-25C3-12BC0277AA7F}"/>
              </a:ext>
            </a:extLst>
          </p:cNvPr>
          <p:cNvSpPr txBox="1"/>
          <p:nvPr/>
        </p:nvSpPr>
        <p:spPr>
          <a:xfrm>
            <a:off x="5182929" y="1598802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特征选择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08D0520F-6E31-D0E2-FAF3-AE3846F729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2792379"/>
            <a:ext cx="3894975" cy="3218882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2577A449-8EDB-A645-0E8E-4823693C46E3}"/>
              </a:ext>
            </a:extLst>
          </p:cNvPr>
          <p:cNvSpPr txBox="1"/>
          <p:nvPr/>
        </p:nvSpPr>
        <p:spPr>
          <a:xfrm>
            <a:off x="5657088" y="2438436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红细胞与白细胞的识别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52AFCB03-B01D-9949-2F3B-C6B66863E6CC}"/>
              </a:ext>
            </a:extLst>
          </p:cNvPr>
          <p:cNvSpPr txBox="1"/>
          <p:nvPr/>
        </p:nvSpPr>
        <p:spPr>
          <a:xfrm>
            <a:off x="5182929" y="3250014"/>
            <a:ext cx="63401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</a:rPr>
              <a:t>使用若干样本特征拟合，采取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区分度高的特征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B52530B-2947-25C0-FD2D-84DC1366E2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737" y="3748076"/>
            <a:ext cx="3894974" cy="3022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085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C0EA3-70EF-8AF7-B1E5-62E2DD240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BE897F5-FDA1-DFF6-FCC9-6D6315A56B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BD59359B-A570-A83E-4B1A-8DE479E160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D778F10C-9C64-D102-1D88-BCE3886C50C5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A0D8FF-EA1E-CBB4-8B70-0714E691B698}"/>
              </a:ext>
            </a:extLst>
          </p:cNvPr>
          <p:cNvSpPr txBox="1"/>
          <p:nvPr/>
        </p:nvSpPr>
        <p:spPr>
          <a:xfrm>
            <a:off x="701599" y="1598803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特征提取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691B67D-9887-27BB-5D91-FB58B63D350F}"/>
              </a:ext>
            </a:extLst>
          </p:cNvPr>
          <p:cNvSpPr txBox="1"/>
          <p:nvPr/>
        </p:nvSpPr>
        <p:spPr>
          <a:xfrm>
            <a:off x="9664260" y="1598803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特征空间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3FAAF9F-7B64-64D5-5586-F4E604AE0ACE}"/>
              </a:ext>
            </a:extLst>
          </p:cNvPr>
          <p:cNvSpPr txBox="1"/>
          <p:nvPr/>
        </p:nvSpPr>
        <p:spPr>
          <a:xfrm>
            <a:off x="5182929" y="1598802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特征选择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3A6D86E-0115-5407-1342-7B4A4FFF3F11}"/>
              </a:ext>
            </a:extLst>
          </p:cNvPr>
          <p:cNvSpPr txBox="1"/>
          <p:nvPr/>
        </p:nvSpPr>
        <p:spPr>
          <a:xfrm>
            <a:off x="5657088" y="2438436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红细胞与白细胞的识别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D8BFDBC-63DF-BCDA-CBA9-EA4A1BC54C64}"/>
              </a:ext>
            </a:extLst>
          </p:cNvPr>
          <p:cNvSpPr txBox="1"/>
          <p:nvPr/>
        </p:nvSpPr>
        <p:spPr>
          <a:xfrm>
            <a:off x="4785253" y="3222584"/>
            <a:ext cx="705794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特征向量是特征空间的点，表示了样本的特征。特征空间是一个抽象的数学空间，用于表示和学习样本之间的关系和模式。因此，我们可以将特征向量看作是特征空间的一部分。</a:t>
            </a:r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57A7F39-EB2A-ED40-8BBC-4B27FF0845B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96" y="2538460"/>
            <a:ext cx="4336512" cy="35804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22CD9F2-E8A4-F6D9-958C-5BDA55AFD187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 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样本数据特征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90613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A19F7-A24A-DD19-CDDB-4F1543990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A44A1AE-B8D0-43B8-1A57-7CE7F289C7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984" y="306051"/>
            <a:ext cx="2797368" cy="67136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6DCC669-FD3E-8F12-A351-B556F31170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047" y="118606"/>
            <a:ext cx="1046259" cy="104625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F4EEAFF-AE8B-4E85-A24D-2118F982A57B}"/>
              </a:ext>
            </a:extLst>
          </p:cNvPr>
          <p:cNvSpPr/>
          <p:nvPr/>
        </p:nvSpPr>
        <p:spPr>
          <a:xfrm>
            <a:off x="-63610" y="1176793"/>
            <a:ext cx="12372229" cy="222636"/>
          </a:xfrm>
          <a:prstGeom prst="rect">
            <a:avLst/>
          </a:prstGeom>
          <a:solidFill>
            <a:srgbClr val="932FA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393BEB9-D98D-B2FC-051D-7BA5E4D24956}"/>
              </a:ext>
            </a:extLst>
          </p:cNvPr>
          <p:cNvSpPr txBox="1"/>
          <p:nvPr/>
        </p:nvSpPr>
        <p:spPr>
          <a:xfrm>
            <a:off x="701599" y="1598803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特征提取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F3F1723-9FE9-690E-3A2E-3DA2986234E0}"/>
              </a:ext>
            </a:extLst>
          </p:cNvPr>
          <p:cNvSpPr txBox="1"/>
          <p:nvPr/>
        </p:nvSpPr>
        <p:spPr>
          <a:xfrm>
            <a:off x="9664260" y="1598803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特征空间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C5E6D1C-8072-AF00-C200-0385AA5563F7}"/>
              </a:ext>
            </a:extLst>
          </p:cNvPr>
          <p:cNvSpPr txBox="1"/>
          <p:nvPr/>
        </p:nvSpPr>
        <p:spPr>
          <a:xfrm>
            <a:off x="5182929" y="1598802"/>
            <a:ext cx="1826141" cy="5847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sz="3200" b="1">
                <a:latin typeface="微软雅黑" panose="020B0503020204020204" pitchFamily="34" charset="-122"/>
                <a:ea typeface="微软雅黑" panose="020B0503020204020204" pitchFamily="34" charset="-122"/>
              </a:rPr>
              <a:t>特征选择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7DA9C44-D31B-A46E-DB58-3D2C6C35FE8D}"/>
              </a:ext>
            </a:extLst>
          </p:cNvPr>
          <p:cNvSpPr txBox="1"/>
          <p:nvPr/>
        </p:nvSpPr>
        <p:spPr>
          <a:xfrm>
            <a:off x="5657088" y="2438436"/>
            <a:ext cx="53142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红细胞与白细胞的识别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D8A355-6880-FC8D-94CB-14CCA8F091AD}"/>
              </a:ext>
            </a:extLst>
          </p:cNvPr>
          <p:cNvSpPr txBox="1"/>
          <p:nvPr/>
        </p:nvSpPr>
        <p:spPr>
          <a:xfrm>
            <a:off x="4785253" y="3222584"/>
            <a:ext cx="705794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3200" b="1" i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特征向量是特征空间的点，表示了样本的特征。特征空间是一个抽象的数学空间，用于表示和学习样本之间的关系和模式。因此，我们可以将特征向量看作是特征空间的一部分。</a:t>
            </a:r>
            <a:endParaRPr lang="zh-CN" altLang="en-US" sz="32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D44B265-884D-3050-E720-13AA3BF194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196" y="2538460"/>
            <a:ext cx="4336512" cy="35804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A3C06FD-314B-9D21-CFBC-480CFD841EBD}"/>
              </a:ext>
            </a:extLst>
          </p:cNvPr>
          <p:cNvSpPr txBox="1"/>
          <p:nvPr/>
        </p:nvSpPr>
        <p:spPr>
          <a:xfrm>
            <a:off x="3197610" y="164681"/>
            <a:ext cx="579678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</a:t>
            </a:r>
            <a:r>
              <a:rPr lang="zh-CN" altLang="en-US" sz="5600" b="1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免费午餐定理</a:t>
            </a:r>
            <a:endParaRPr lang="en-US" altLang="zh-CN" sz="5600" b="1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999634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783</Words>
  <Application>Microsoft Office PowerPoint</Application>
  <PresentationFormat>宽屏</PresentationFormat>
  <Paragraphs>128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-apple-system</vt:lpstr>
      <vt:lpstr>Arial Unicode MS</vt:lpstr>
      <vt:lpstr>等线</vt:lpstr>
      <vt:lpstr>等线 Light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宇航 程</dc:creator>
  <cp:lastModifiedBy>宇航 程</cp:lastModifiedBy>
  <cp:revision>4</cp:revision>
  <dcterms:created xsi:type="dcterms:W3CDTF">2025-06-20T16:27:46Z</dcterms:created>
  <dcterms:modified xsi:type="dcterms:W3CDTF">2025-06-21T12:03:04Z</dcterms:modified>
</cp:coreProperties>
</file>